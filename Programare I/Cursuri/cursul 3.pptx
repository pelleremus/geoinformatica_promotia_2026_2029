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77" r:id="rId24"/>
    <p:sldId id="278" r:id="rId25"/>
    <p:sldId id="279"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63" autoAdjust="0"/>
    <p:restoredTop sz="94660"/>
  </p:normalViewPr>
  <p:slideViewPr>
    <p:cSldViewPr snapToGrid="0">
      <p:cViewPr varScale="1">
        <p:scale>
          <a:sx n="107" d="100"/>
          <a:sy n="107" d="100"/>
        </p:scale>
        <p:origin x="176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10/26/2026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10/26/2026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Conversii de tip</a:t>
            </a:r>
          </a:p>
          <a:p>
            <a:pPr marL="34290" indent="0" algn="just">
              <a:buNone/>
            </a:pPr>
            <a:r>
              <a:rPr lang="ro-RO" sz="2800" noProof="0" dirty="0">
                <a:solidFill>
                  <a:srgbClr val="00B0F0"/>
                </a:solidFill>
              </a:rPr>
              <a:t>Conversia de tip este convertirea unui tip de date într-un alt tip. Este cunoscută și sub numele de </a:t>
            </a:r>
            <a:r>
              <a:rPr lang="ro-RO" sz="2800" noProof="0" dirty="0" err="1">
                <a:solidFill>
                  <a:srgbClr val="00B0F0"/>
                </a:solidFill>
              </a:rPr>
              <a:t>Type</a:t>
            </a:r>
            <a:r>
              <a:rPr lang="ro-RO" sz="2800" noProof="0" dirty="0">
                <a:solidFill>
                  <a:srgbClr val="00B0F0"/>
                </a:solidFill>
              </a:rPr>
              <a:t> Casting. </a:t>
            </a:r>
          </a:p>
          <a:p>
            <a:pPr marL="34290" indent="0" algn="just">
              <a:buNone/>
            </a:pPr>
            <a:r>
              <a:rPr lang="ro-RO" sz="2800" noProof="0" dirty="0">
                <a:solidFill>
                  <a:srgbClr val="00B0F0"/>
                </a:solidFill>
              </a:rPr>
              <a:t>În C#, </a:t>
            </a:r>
            <a:r>
              <a:rPr lang="ro-RO" sz="2800" noProof="0" dirty="0" err="1">
                <a:solidFill>
                  <a:srgbClr val="00B0F0"/>
                </a:solidFill>
              </a:rPr>
              <a:t>type</a:t>
            </a:r>
            <a:r>
              <a:rPr lang="ro-RO" sz="2800" noProof="0" dirty="0">
                <a:solidFill>
                  <a:srgbClr val="00B0F0"/>
                </a:solidFill>
              </a:rPr>
              <a:t> casting are două forme:</a:t>
            </a:r>
          </a:p>
          <a:p>
            <a:pPr marL="34290" indent="0" algn="just">
              <a:buNone/>
            </a:pPr>
            <a:endParaRPr lang="ro-RO" sz="2800" noProof="0" dirty="0">
              <a:solidFill>
                <a:srgbClr val="00B0F0"/>
              </a:solidFill>
            </a:endParaRPr>
          </a:p>
          <a:p>
            <a:pPr algn="just"/>
            <a:r>
              <a:rPr lang="ro-RO" sz="2800" noProof="0" dirty="0">
                <a:solidFill>
                  <a:srgbClr val="00B0F0"/>
                </a:solidFill>
              </a:rPr>
              <a:t>Conversie implicită de tip</a:t>
            </a:r>
          </a:p>
          <a:p>
            <a:pPr algn="just"/>
            <a:r>
              <a:rPr lang="ro-RO" sz="2800" noProof="0" dirty="0">
                <a:solidFill>
                  <a:srgbClr val="00B0F0"/>
                </a:solidFill>
              </a:rPr>
              <a:t>Conversie explicită de tip</a:t>
            </a: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DB9B-9E97-997E-00C8-A8E670BC20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2F9F5-5FD0-BE2C-B5A9-F801A5912FEA}"/>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28B90E5B-A06C-297E-FF7E-91138F92D91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Conversia implicită de tip</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Conversiile implicite sunt efectuate de compilatorul C# într-o manieră sigură din punct de vedere al tipurilor. De exemplu, o valoare poate fi convertită dintr-un tip de date în altul fără a fi necesară o conversie explicită, de la tipuri întregi mai mici la tipuri întregi mai mari sau de la clase derivate la clase de bază.</a:t>
            </a:r>
          </a:p>
        </p:txBody>
      </p:sp>
    </p:spTree>
    <p:extLst>
      <p:ext uri="{BB962C8B-B14F-4D97-AF65-F5344CB8AC3E}">
        <p14:creationId xmlns:p14="http://schemas.microsoft.com/office/powerpoint/2010/main" val="298528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20531-018C-D9C9-33BD-4FAD6EF87B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CE4A17-E12C-FB61-7B8A-7BB3A7A61A1A}"/>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AAAE0CD4-5981-9A6D-3238-FF7AEFBD7137}"/>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MyExample</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Example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myInt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9</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999999"/>
                </a:solidFill>
                <a:effectLst/>
                <a:latin typeface="Courier New" panose="02070309020205020404" pitchFamily="49" charset="0"/>
              </a:rPr>
              <a:t>		//conversie automată de la </a:t>
            </a:r>
            <a:r>
              <a:rPr lang="ro-RO" sz="2400" b="1" i="0" noProof="0" dirty="0" err="1">
                <a:solidFill>
                  <a:srgbClr val="999999"/>
                </a:solidFill>
                <a:effectLst/>
                <a:latin typeface="Courier New" panose="02070309020205020404" pitchFamily="49" charset="0"/>
              </a:rPr>
              <a:t>int</a:t>
            </a:r>
            <a:r>
              <a:rPr lang="ro-RO" sz="2400" b="1" i="0" noProof="0" dirty="0">
                <a:solidFill>
                  <a:srgbClr val="999999"/>
                </a:solidFill>
                <a:effectLst/>
                <a:latin typeface="Courier New" panose="02070309020205020404" pitchFamily="49" charset="0"/>
              </a:rPr>
              <a:t> la </a:t>
            </a:r>
            <a:r>
              <a:rPr lang="ro-RO" sz="2400" b="1" i="0" noProof="0" dirty="0" err="1">
                <a:solidFill>
                  <a:srgbClr val="999999"/>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myDouble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myInt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myDouble</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2046156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EE1C3-ACAB-DB30-A054-094279920F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730E7E-342D-C3DD-9A30-CBC31D5D7168}"/>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49FA7956-74C3-4EBB-D3DD-1A1FD075C49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Conversia explicită de tip</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Conversiile explicite sunt efectuate explicit de către programatori folosind funcțiile predefinite. </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Conversiile explicite necesită un operator cast (de conversie)</a:t>
            </a:r>
          </a:p>
        </p:txBody>
      </p:sp>
    </p:spTree>
    <p:extLst>
      <p:ext uri="{BB962C8B-B14F-4D97-AF65-F5344CB8AC3E}">
        <p14:creationId xmlns:p14="http://schemas.microsoft.com/office/powerpoint/2010/main" val="2747716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AB6FA-F2DC-A6FF-74EA-91CC5BEBE0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37BA0E-241F-9A1E-7C12-1FDE727AE315}"/>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02504D03-1E0D-263E-FD83-EE9583AF6DA3}"/>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TypeConversionApplication</a:t>
            </a:r>
            <a:r>
              <a:rPr lang="ro-RO" sz="2400" b="1" i="0" noProof="0" dirty="0">
                <a:solidFill>
                  <a:srgbClr val="CCCCCC"/>
                </a:solidFill>
                <a:effectLst/>
                <a:latin typeface="Courier New" panose="02070309020205020404" pitchFamily="49" charset="0"/>
              </a:rPr>
              <a:t> { </a:t>
            </a:r>
          </a:p>
          <a:p>
            <a:pPr marL="240030" lvl="1"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ExplicitConversion</a:t>
            </a:r>
            <a:r>
              <a:rPr lang="ro-RO" sz="2400" b="1" i="0" noProof="0" dirty="0">
                <a:solidFill>
                  <a:srgbClr val="CCCCCC"/>
                </a:solidFill>
                <a:effectLst/>
                <a:latin typeface="Courier New" panose="02070309020205020404" pitchFamily="49" charset="0"/>
              </a:rPr>
              <a:t> { </a:t>
            </a:r>
          </a:p>
          <a:p>
            <a:pPr marL="377190" lvl="2" indent="0" algn="just">
              <a:buNone/>
            </a:pP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77190" lvl="2"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d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5673.74</a:t>
            </a:r>
            <a:r>
              <a:rPr lang="ro-RO" sz="2400" b="1" i="0" noProof="0" dirty="0">
                <a:solidFill>
                  <a:srgbClr val="CCCCCC"/>
                </a:solidFill>
                <a:effectLst/>
                <a:latin typeface="Courier New" panose="02070309020205020404" pitchFamily="49" charset="0"/>
              </a:rPr>
              <a:t>; </a:t>
            </a:r>
          </a:p>
          <a:p>
            <a:pPr marL="377190" lvl="2"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a:t>
            </a:r>
          </a:p>
          <a:p>
            <a:pPr marL="377190" lvl="2"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)d; </a:t>
            </a:r>
            <a:r>
              <a:rPr lang="ro-RO" sz="2400" b="1" noProof="0" dirty="0">
                <a:solidFill>
                  <a:srgbClr val="999999"/>
                </a:solidFill>
                <a:latin typeface="Courier New" panose="02070309020205020404" pitchFamily="49" charset="0"/>
              </a:rPr>
              <a:t>// cast </a:t>
            </a:r>
            <a:r>
              <a:rPr lang="ro-RO" sz="2400" b="1" noProof="0" dirty="0" err="1">
                <a:solidFill>
                  <a:srgbClr val="999999"/>
                </a:solidFill>
                <a:latin typeface="Courier New" panose="02070309020205020404" pitchFamily="49" charset="0"/>
              </a:rPr>
              <a:t>double</a:t>
            </a:r>
            <a:r>
              <a:rPr lang="ro-RO" sz="2400" b="1" noProof="0" dirty="0">
                <a:solidFill>
                  <a:srgbClr val="999999"/>
                </a:solidFill>
                <a:latin typeface="Courier New" panose="02070309020205020404" pitchFamily="49" charset="0"/>
              </a:rPr>
              <a:t> </a:t>
            </a:r>
            <a:r>
              <a:rPr lang="ro-RO" sz="2400" b="1" noProof="0" dirty="0" err="1">
                <a:solidFill>
                  <a:srgbClr val="999999"/>
                </a:solidFill>
                <a:latin typeface="Courier New" panose="02070309020205020404" pitchFamily="49" charset="0"/>
              </a:rPr>
              <a:t>to</a:t>
            </a:r>
            <a:r>
              <a:rPr lang="ro-RO" sz="2400" b="1" noProof="0" dirty="0">
                <a:solidFill>
                  <a:srgbClr val="999999"/>
                </a:solidFill>
                <a:latin typeface="Courier New" panose="02070309020205020404" pitchFamily="49" charset="0"/>
              </a:rPr>
              <a:t> int.</a:t>
            </a:r>
            <a:r>
              <a:rPr lang="ro-RO" sz="2400" b="1" noProof="0" dirty="0">
                <a:solidFill>
                  <a:srgbClr val="CCCCCC"/>
                </a:solidFill>
                <a:latin typeface="Courier New" panose="02070309020205020404" pitchFamily="49" charset="0"/>
              </a:rPr>
              <a:t> </a:t>
            </a:r>
            <a:endParaRPr lang="ro-RO" sz="2400" b="1" i="0" noProof="0" dirty="0">
              <a:solidFill>
                <a:srgbClr val="CCCCCC"/>
              </a:solidFill>
              <a:effectLst/>
              <a:latin typeface="Courier New" panose="02070309020205020404" pitchFamily="49" charset="0"/>
            </a:endParaRPr>
          </a:p>
          <a:p>
            <a:pPr marL="377190" lvl="2"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(i); </a:t>
            </a:r>
          </a:p>
          <a:p>
            <a:pPr marL="377190" lvl="2" indent="0" algn="just">
              <a:buNone/>
            </a:pPr>
            <a:r>
              <a:rPr lang="ro-RO" sz="2400" b="1" i="0" noProof="0" dirty="0">
                <a:solidFill>
                  <a:srgbClr val="CCCCCC"/>
                </a:solidFill>
                <a:effectLst/>
                <a:latin typeface="Courier New" panose="02070309020205020404" pitchFamily="49" charset="0"/>
              </a:rPr>
              <a:t>}</a:t>
            </a:r>
          </a:p>
          <a:p>
            <a:pPr marL="240030" lvl="1" indent="0" algn="just">
              <a:buNone/>
            </a:pP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107853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F6BC-4D67-7395-A5B4-0959E2E7F6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DAB362-3AC3-D958-D21B-30109AFA9231}"/>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A0217838-94AA-3DD3-BCC9-DA7290B238C1}"/>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MyApplication</a:t>
            </a:r>
            <a:r>
              <a:rPr lang="ro-RO" sz="2400" b="1" i="0" noProof="0" dirty="0">
                <a:solidFill>
                  <a:srgbClr val="CCCCCC"/>
                </a:solidFill>
                <a:effectLst/>
                <a:latin typeface="Courier New" panose="02070309020205020404" pitchFamily="49" charset="0"/>
              </a:rPr>
              <a:t> { </a:t>
            </a:r>
          </a:p>
          <a:p>
            <a:pPr marL="240030" lvl="1"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77190" lvl="2" indent="0" algn="just">
              <a:buNone/>
            </a:pP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720090" lvl="4"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myInt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p>
          <a:p>
            <a:pPr marL="720090" lvl="4" indent="0" algn="just">
              <a:buNone/>
            </a:pPr>
            <a:r>
              <a:rPr lang="ro-RO" sz="2400" b="1" i="0" noProof="0" dirty="0">
                <a:solidFill>
                  <a:srgbClr val="999999"/>
                </a:solidFill>
                <a:effectLst/>
                <a:latin typeface="Courier New" panose="02070309020205020404" pitchFamily="49" charset="0"/>
              </a:rPr>
              <a:t>// Manual casting: </a:t>
            </a:r>
            <a:r>
              <a:rPr lang="ro-RO" sz="2400" b="1" i="0" noProof="0" dirty="0" err="1">
                <a:solidFill>
                  <a:srgbClr val="999999"/>
                </a:solidFill>
                <a:effectLst/>
                <a:latin typeface="Courier New" panose="02070309020205020404" pitchFamily="49" charset="0"/>
              </a:rPr>
              <a:t>int</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to</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float</a:t>
            </a:r>
            <a:r>
              <a:rPr lang="ro-RO" sz="2400" b="1" i="0" noProof="0" dirty="0">
                <a:solidFill>
                  <a:srgbClr val="CCCCCC"/>
                </a:solidFill>
                <a:effectLst/>
                <a:latin typeface="Courier New" panose="02070309020205020404" pitchFamily="49" charset="0"/>
              </a:rPr>
              <a:t> </a:t>
            </a:r>
          </a:p>
          <a:p>
            <a:pPr marL="720090" lvl="4" indent="0" algn="just">
              <a:buNone/>
            </a:pPr>
            <a:r>
              <a:rPr lang="ro-RO" sz="2400" b="1" i="0" noProof="0" dirty="0" err="1">
                <a:solidFill>
                  <a:srgbClr val="CC99CD"/>
                </a:solidFill>
                <a:effectLst/>
                <a:latin typeface="Courier New" panose="02070309020205020404" pitchFamily="49" charset="0"/>
              </a:rPr>
              <a:t>float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myFloat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float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myInt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myInt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myFloat</a:t>
            </a:r>
            <a:r>
              <a:rPr lang="ro-RO" sz="2400" b="1" i="0" noProof="0" dirty="0">
                <a:solidFill>
                  <a:srgbClr val="CCCCCC"/>
                </a:solidFill>
                <a:effectLst/>
                <a:latin typeface="Courier New" panose="02070309020205020404" pitchFamily="49" charset="0"/>
              </a:rPr>
              <a:t>);</a:t>
            </a:r>
          </a:p>
          <a:p>
            <a:pPr marL="377190" lvl="2" indent="0" algn="just">
              <a:buNone/>
            </a:pPr>
            <a:r>
              <a:rPr lang="ro-RO" sz="2400" b="1" i="0" noProof="0" dirty="0">
                <a:solidFill>
                  <a:srgbClr val="CCCCCC"/>
                </a:solidFill>
                <a:effectLst/>
                <a:latin typeface="Courier New" panose="02070309020205020404" pitchFamily="49" charset="0"/>
              </a:rPr>
              <a:t>}</a:t>
            </a:r>
          </a:p>
          <a:p>
            <a:pPr marL="240030" lvl="1" indent="0" algn="just">
              <a:buNone/>
            </a:pP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758424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FDACE-96C3-3B08-963C-106E59026C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152374-9CC4-A664-CC1E-4049F30A4820}"/>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B6AA24E3-98D9-681E-797B-9BCD6AA9B33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Conversia de tip folosind clasa </a:t>
            </a:r>
            <a:r>
              <a:rPr lang="ro-RO" sz="2800" noProof="0" dirty="0" err="1">
                <a:solidFill>
                  <a:srgbClr val="00B0F0"/>
                </a:solidFill>
              </a:rPr>
              <a:t>Convert</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Clasa </a:t>
            </a:r>
            <a:r>
              <a:rPr lang="ro-RO" sz="2800" noProof="0" dirty="0" err="1">
                <a:solidFill>
                  <a:srgbClr val="00B0F0"/>
                </a:solidFill>
              </a:rPr>
              <a:t>Convert</a:t>
            </a:r>
            <a:r>
              <a:rPr lang="ro-RO" sz="2800" noProof="0" dirty="0">
                <a:solidFill>
                  <a:srgbClr val="00B0F0"/>
                </a:solidFill>
              </a:rPr>
              <a:t> din C# oferă metode pentru convertirea explicită a diferitelor tipuri de date.</a:t>
            </a:r>
          </a:p>
        </p:txBody>
      </p:sp>
    </p:spTree>
    <p:extLst>
      <p:ext uri="{BB962C8B-B14F-4D97-AF65-F5344CB8AC3E}">
        <p14:creationId xmlns:p14="http://schemas.microsoft.com/office/powerpoint/2010/main" val="4141049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30A13-4A4C-E058-1D44-95C0AC90E6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BD5E18-1C9C-22F4-3452-76B612704A29}"/>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7A075F31-68DD-C783-1C28-37FDF57032C3}"/>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ConversionExample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"123"</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num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Convert.</a:t>
            </a:r>
            <a:r>
              <a:rPr lang="ro-RO" sz="2400" b="1" i="0" noProof="0" dirty="0">
                <a:solidFill>
                  <a:srgbClr val="F08D49"/>
                </a:solidFill>
                <a:effectLst/>
                <a:latin typeface="Courier New" panose="02070309020205020404" pitchFamily="49" charset="0"/>
              </a:rPr>
              <a:t>ToInt32</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(num);</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2056292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A020-EFEA-4631-4999-8768DD0302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B66F33-A71D-91F8-B5DB-DB216C4CC71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5EED24C7-3659-D26D-61AF-49EECD1430E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Conversia de tip folosind metoda </a:t>
            </a:r>
            <a:r>
              <a:rPr lang="ro-RO" sz="2800" noProof="0" dirty="0" err="1">
                <a:solidFill>
                  <a:srgbClr val="00B0F0"/>
                </a:solidFill>
              </a:rPr>
              <a:t>Parse</a:t>
            </a:r>
            <a:r>
              <a:rPr lang="ro-RO" sz="2800" noProof="0" dirty="0">
                <a:solidFill>
                  <a:srgbClr val="00B0F0"/>
                </a:solidFill>
              </a:rPr>
              <a:t>()</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Metoda </a:t>
            </a:r>
            <a:r>
              <a:rPr lang="ro-RO" sz="2800" noProof="0" dirty="0" err="1">
                <a:solidFill>
                  <a:srgbClr val="00B0F0"/>
                </a:solidFill>
              </a:rPr>
              <a:t>Parse</a:t>
            </a:r>
            <a:r>
              <a:rPr lang="ro-RO" sz="2800" noProof="0" dirty="0">
                <a:solidFill>
                  <a:srgbClr val="00B0F0"/>
                </a:solidFill>
              </a:rPr>
              <a:t>() este utilizată pentru a converti o reprezentare de tip șir a unui număr în tipul de date corespunzător.</a:t>
            </a:r>
          </a:p>
        </p:txBody>
      </p:sp>
    </p:spTree>
    <p:extLst>
      <p:ext uri="{BB962C8B-B14F-4D97-AF65-F5344CB8AC3E}">
        <p14:creationId xmlns:p14="http://schemas.microsoft.com/office/powerpoint/2010/main" val="2458307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47A32-5768-F321-CF5F-F0026C987F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97F0B4-65F4-9B80-64FE-0B26938167F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A86656D7-99A1-CA53-A225-849F132914EB}"/>
              </a:ext>
            </a:extLst>
          </p:cNvPr>
          <p:cNvSpPr>
            <a:spLocks noGrp="1"/>
          </p:cNvSpPr>
          <p:nvPr>
            <p:ph idx="1"/>
          </p:nvPr>
        </p:nvSpPr>
        <p:spPr>
          <a:xfrm>
            <a:off x="463925" y="1281952"/>
            <a:ext cx="8249770" cy="5074024"/>
          </a:xfrm>
        </p:spPr>
        <p:txBody>
          <a:bodyPr>
            <a:noAutofit/>
          </a:bodyPr>
          <a:lstStyle/>
          <a:p>
            <a:pPr marL="34290" indent="0">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ParseExample</a:t>
            </a:r>
            <a:r>
              <a:rPr lang="ro-RO" sz="2400" b="1" i="0" noProof="0" dirty="0">
                <a:solidFill>
                  <a:srgbClr val="CCCCCC"/>
                </a:solidFill>
                <a:effectLst/>
                <a:latin typeface="Courier New" panose="02070309020205020404" pitchFamily="49" charset="0"/>
              </a:rPr>
              <a:t> {</a:t>
            </a:r>
          </a:p>
          <a:p>
            <a:pPr marL="240030" lvl="1" indent="0">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240030" lvl="1" indent="0">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a:t>
            </a:r>
          </a:p>
          <a:p>
            <a:pPr marL="720090" lvl="4" indent="0">
              <a:buNone/>
            </a:pPr>
            <a:r>
              <a:rPr lang="ro-RO" sz="21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"456"</a:t>
            </a:r>
            <a:r>
              <a:rPr lang="ro-RO" sz="2400" b="1" i="0" noProof="0" dirty="0">
                <a:solidFill>
                  <a:srgbClr val="CCCCCC"/>
                </a:solidFill>
                <a:effectLst/>
                <a:latin typeface="Courier New" panose="02070309020205020404" pitchFamily="49" charset="0"/>
              </a:rPr>
              <a:t>; </a:t>
            </a:r>
          </a:p>
          <a:p>
            <a:pPr marL="720090" lvl="4" indent="0">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num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err="1">
                <a:solidFill>
                  <a:srgbClr val="CCCCCC"/>
                </a:solidFill>
                <a:effectLst/>
                <a:latin typeface="Courier New" panose="02070309020205020404" pitchFamily="49" charset="0"/>
              </a:rPr>
              <a:t>.</a:t>
            </a:r>
            <a:r>
              <a:rPr lang="ro-RO" sz="2400" b="1" i="0" noProof="0" dirty="0" err="1">
                <a:solidFill>
                  <a:srgbClr val="F08D49"/>
                </a:solidFill>
                <a:effectLst/>
                <a:latin typeface="Courier New" panose="02070309020205020404" pitchFamily="49" charset="0"/>
              </a:rPr>
              <a:t>Parse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(num);</a:t>
            </a:r>
          </a:p>
          <a:p>
            <a:pPr marL="240030" lvl="1" indent="0">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240030" lvl="1" indent="0">
              <a:buNone/>
            </a:pPr>
            <a:r>
              <a:rPr lang="ro-RO" sz="2400" b="1" i="0" noProof="0" dirty="0">
                <a:solidFill>
                  <a:srgbClr val="CCCCCC"/>
                </a:solidFill>
                <a:effectLst/>
                <a:latin typeface="Courier New" panose="02070309020205020404" pitchFamily="49" charset="0"/>
              </a:rPr>
              <a:t>}</a:t>
            </a:r>
          </a:p>
          <a:p>
            <a:pPr marL="34290" indent="0">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4273126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E677D-41F4-035B-55BB-39FCF54BCC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C167D2-1968-208D-9CD9-E07DBF5F8392}"/>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31E9C26-6508-DC5E-9DBE-8825A1963D7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Conversia de tip folosind metoda </a:t>
            </a:r>
            <a:r>
              <a:rPr lang="ro-RO" sz="2800" noProof="0" dirty="0" err="1">
                <a:solidFill>
                  <a:srgbClr val="00B0F0"/>
                </a:solidFill>
              </a:rPr>
              <a:t>TryParse</a:t>
            </a:r>
            <a:r>
              <a:rPr lang="ro-RO" sz="2800" noProof="0" dirty="0">
                <a:solidFill>
                  <a:srgbClr val="00B0F0"/>
                </a:solidFill>
              </a:rPr>
              <a:t>()</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Metoda </a:t>
            </a:r>
            <a:r>
              <a:rPr lang="ro-RO" sz="2800" noProof="0" dirty="0" err="1">
                <a:solidFill>
                  <a:srgbClr val="00B0F0"/>
                </a:solidFill>
              </a:rPr>
              <a:t>TryParse</a:t>
            </a:r>
            <a:r>
              <a:rPr lang="ro-RO" sz="2800" noProof="0" dirty="0">
                <a:solidFill>
                  <a:srgbClr val="00B0F0"/>
                </a:solidFill>
              </a:rPr>
              <a:t>() convertește în siguranță un șir de caractere într-un tip de date numeric și returnează o valoare booleană care indică succesul sau eșecul.</a:t>
            </a:r>
          </a:p>
        </p:txBody>
      </p:sp>
    </p:spTree>
    <p:extLst>
      <p:ext uri="{BB962C8B-B14F-4D97-AF65-F5344CB8AC3E}">
        <p14:creationId xmlns:p14="http://schemas.microsoft.com/office/powerpoint/2010/main" val="1589841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EB945-CFEE-942D-EFC3-EB26EEE7202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97FBA5-5235-C434-A82A-AB9DAA96285F}"/>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DBDE9937-6BE2-5EE2-2DC4-F7ED297EAD67}"/>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TryParseExample</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a:t>
            </a:r>
            <a:endParaRPr lang="ro-RO" sz="2400" b="1" noProof="0" dirty="0">
              <a:solidFill>
                <a:srgbClr val="CCCCCC"/>
              </a:solidFill>
              <a:latin typeface="Courier New" panose="02070309020205020404" pitchFamily="49" charset="0"/>
            </a:endParaRP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"789"</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err="1">
                <a:solidFill>
                  <a:srgbClr val="CCCCCC"/>
                </a:solidFill>
                <a:effectLst/>
                <a:latin typeface="Courier New" panose="02070309020205020404" pitchFamily="49" charset="0"/>
              </a:rPr>
              <a:t>.</a:t>
            </a:r>
            <a:r>
              <a:rPr lang="ro-RO" sz="2400" b="1" i="0" noProof="0" dirty="0" err="1">
                <a:solidFill>
                  <a:srgbClr val="F08D49"/>
                </a:solidFill>
                <a:effectLst/>
                <a:latin typeface="Courier New" panose="02070309020205020404" pitchFamily="49" charset="0"/>
              </a:rPr>
              <a:t>TryParse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out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result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result</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else</a:t>
            </a:r>
            <a:r>
              <a:rPr lang="ro-RO" sz="2400" b="1" i="0" noProof="0" dirty="0">
                <a:solidFill>
                  <a:srgbClr val="CCCCCC"/>
                </a:solidFill>
                <a:effectLst/>
                <a:latin typeface="Courier New" panose="02070309020205020404" pitchFamily="49" charset="0"/>
              </a:rPr>
              <a:t> {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Conversion</a:t>
            </a:r>
            <a:r>
              <a:rPr lang="en-US"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failed</a:t>
            </a:r>
            <a:r>
              <a:rPr lang="en-US" sz="2400" b="1" i="0" noProof="0">
                <a:solidFill>
                  <a:srgbClr val="7EC699"/>
                </a:solidFill>
                <a:effectLst/>
                <a:latin typeface="Courier New" panose="02070309020205020404" pitchFamily="49" charset="0"/>
              </a:rPr>
              <a:t>!</a:t>
            </a:r>
            <a:r>
              <a:rPr lang="ro-RO" sz="2400" b="1" i="0" noProof="0">
                <a:solidFill>
                  <a:srgbClr val="7EC699"/>
                </a:solidFill>
                <a:effectLst/>
                <a:latin typeface="Courier New" panose="02070309020205020404" pitchFamily="49" charset="0"/>
              </a:rPr>
              <a:t>"</a:t>
            </a:r>
            <a:r>
              <a:rPr lang="ro-RO" sz="2400" b="1" i="0" noProof="0">
                <a:solidFill>
                  <a:srgbClr val="CCCCCC"/>
                </a:solidFill>
                <a:effectLst/>
                <a:latin typeface="Courier New" panose="02070309020205020404" pitchFamily="49" charset="0"/>
              </a:rPr>
              <a:t>); </a:t>
            </a:r>
            <a:endParaRPr lang="ro-RO" sz="2400" b="1" i="0" noProof="0" dirty="0">
              <a:solidFill>
                <a:srgbClr val="CCCCCC"/>
              </a:solidFill>
              <a:effectLst/>
              <a:latin typeface="Courier New" panose="02070309020205020404" pitchFamily="49" charset="0"/>
            </a:endParaRP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93573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4687-AED8-5A00-A3C1-7F03E88B47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365ABB-7112-F8F6-9FAC-A0F4DDBCBA2F}"/>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D50D3CC-E784-65B8-2839-73A05A5E2A5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Metode de conversie a tipurilor C#</a:t>
            </a:r>
          </a:p>
          <a:p>
            <a:pPr marL="34290" indent="0" algn="just">
              <a:buNone/>
            </a:pPr>
            <a:r>
              <a:rPr lang="ro-RO" sz="2800" noProof="0" dirty="0">
                <a:solidFill>
                  <a:srgbClr val="00B0F0"/>
                </a:solidFill>
              </a:rPr>
              <a:t>C# oferă următoarele metode de conversie a tipurilor incorporate:</a:t>
            </a:r>
          </a:p>
          <a:p>
            <a:pPr marL="548640" indent="-514350" algn="just">
              <a:buFont typeface="+mj-lt"/>
              <a:buAutoNum type="arabicPeriod"/>
            </a:pPr>
            <a:r>
              <a:rPr lang="ro-RO" sz="2800" noProof="0" dirty="0" err="1">
                <a:solidFill>
                  <a:srgbClr val="00B0F0"/>
                </a:solidFill>
              </a:rPr>
              <a:t>ToBoolean</a:t>
            </a:r>
            <a:r>
              <a:rPr lang="ro-RO" sz="2800" noProof="0" dirty="0">
                <a:solidFill>
                  <a:srgbClr val="00B0F0"/>
                </a:solidFill>
              </a:rPr>
              <a:t> - Convertește un tip într-o valoare booleană, când este posibil.</a:t>
            </a:r>
          </a:p>
          <a:p>
            <a:pPr marL="548640" indent="-514350" algn="just">
              <a:buFont typeface="+mj-lt"/>
              <a:buAutoNum type="arabicPeriod"/>
            </a:pPr>
            <a:r>
              <a:rPr lang="ro-RO" sz="2800" noProof="0" dirty="0" err="1">
                <a:solidFill>
                  <a:srgbClr val="00B0F0"/>
                </a:solidFill>
              </a:rPr>
              <a:t>ToByte</a:t>
            </a:r>
            <a:r>
              <a:rPr lang="ro-RO" sz="2800" noProof="0" dirty="0">
                <a:solidFill>
                  <a:srgbClr val="00B0F0"/>
                </a:solidFill>
              </a:rPr>
              <a:t> - Convertește un tip într-un octet.</a:t>
            </a:r>
          </a:p>
          <a:p>
            <a:pPr marL="548640" indent="-514350" algn="just">
              <a:buFont typeface="+mj-lt"/>
              <a:buAutoNum type="arabicPeriod"/>
            </a:pPr>
            <a:r>
              <a:rPr lang="ro-RO" sz="2800" noProof="0" dirty="0" err="1">
                <a:solidFill>
                  <a:srgbClr val="00B0F0"/>
                </a:solidFill>
              </a:rPr>
              <a:t>ToChar</a:t>
            </a:r>
            <a:r>
              <a:rPr lang="ro-RO" sz="2800" noProof="0" dirty="0">
                <a:solidFill>
                  <a:srgbClr val="00B0F0"/>
                </a:solidFill>
              </a:rPr>
              <a:t> - Convertește un tip într-un singur caracter </a:t>
            </a:r>
            <a:r>
              <a:rPr lang="ro-RO" sz="2800" noProof="0" dirty="0" err="1">
                <a:solidFill>
                  <a:srgbClr val="00B0F0"/>
                </a:solidFill>
              </a:rPr>
              <a:t>Unicode</a:t>
            </a:r>
            <a:r>
              <a:rPr lang="ro-RO" sz="2800" noProof="0" dirty="0">
                <a:solidFill>
                  <a:srgbClr val="00B0F0"/>
                </a:solidFill>
              </a:rPr>
              <a:t>, când este posibil.</a:t>
            </a:r>
          </a:p>
          <a:p>
            <a:pPr marL="548640" indent="-514350" algn="just">
              <a:buFont typeface="+mj-lt"/>
              <a:buAutoNum type="arabicPeriod"/>
            </a:pPr>
            <a:r>
              <a:rPr lang="ro-RO" sz="2800" noProof="0" dirty="0" err="1">
                <a:solidFill>
                  <a:srgbClr val="00B0F0"/>
                </a:solidFill>
              </a:rPr>
              <a:t>ToDateTime</a:t>
            </a:r>
            <a:r>
              <a:rPr lang="ro-RO" sz="2800" noProof="0" dirty="0">
                <a:solidFill>
                  <a:srgbClr val="00B0F0"/>
                </a:solidFill>
              </a:rPr>
              <a:t> - Convertește un tip (tip întreg sau șir de caractere) în structuri dată-oră.</a:t>
            </a:r>
          </a:p>
        </p:txBody>
      </p:sp>
    </p:spTree>
    <p:extLst>
      <p:ext uri="{BB962C8B-B14F-4D97-AF65-F5344CB8AC3E}">
        <p14:creationId xmlns:p14="http://schemas.microsoft.com/office/powerpoint/2010/main" val="1093370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9DFA-33B1-31B5-92AA-559757FFCE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FB00B7-DF26-0A7D-B835-294D835ED453}"/>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CB337947-DF1A-8141-64C8-A26F19C2A78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Metode de conversie a tipurilor C#</a:t>
            </a:r>
          </a:p>
          <a:p>
            <a:pPr marL="34290" indent="0" algn="just">
              <a:buNone/>
            </a:pPr>
            <a:r>
              <a:rPr lang="ro-RO" sz="2800" noProof="0" dirty="0">
                <a:solidFill>
                  <a:srgbClr val="00B0F0"/>
                </a:solidFill>
              </a:rPr>
              <a:t>C# oferă următoarele metode de conversie a tipurilor incorporate:</a:t>
            </a:r>
          </a:p>
          <a:p>
            <a:pPr marL="548640" indent="-514350" algn="just">
              <a:buFont typeface="+mj-lt"/>
              <a:buAutoNum type="arabicPeriod" startAt="5"/>
            </a:pPr>
            <a:r>
              <a:rPr lang="ro-RO" sz="2800" noProof="0" dirty="0" err="1">
                <a:solidFill>
                  <a:srgbClr val="00B0F0"/>
                </a:solidFill>
              </a:rPr>
              <a:t>ToDecimal</a:t>
            </a:r>
            <a:r>
              <a:rPr lang="ro-RO" sz="2800" noProof="0" dirty="0">
                <a:solidFill>
                  <a:srgbClr val="00B0F0"/>
                </a:solidFill>
              </a:rPr>
              <a:t> - Convertește un tip cu virgulă mobilă sau întreg într-un tip zecimal.</a:t>
            </a:r>
          </a:p>
          <a:p>
            <a:pPr marL="548640" indent="-514350" algn="just">
              <a:buFont typeface="+mj-lt"/>
              <a:buAutoNum type="arabicPeriod" startAt="5"/>
            </a:pPr>
            <a:r>
              <a:rPr lang="ro-RO" sz="2800" noProof="0" dirty="0" err="1">
                <a:solidFill>
                  <a:srgbClr val="00B0F0"/>
                </a:solidFill>
              </a:rPr>
              <a:t>ToDouble</a:t>
            </a:r>
            <a:r>
              <a:rPr lang="ro-RO" sz="2800" noProof="0" dirty="0">
                <a:solidFill>
                  <a:srgbClr val="00B0F0"/>
                </a:solidFill>
              </a:rPr>
              <a:t> - Convertește un tip într-un tip </a:t>
            </a:r>
            <a:r>
              <a:rPr lang="ro-RO" sz="2800" noProof="0" dirty="0" err="1">
                <a:solidFill>
                  <a:srgbClr val="00B0F0"/>
                </a:solidFill>
              </a:rPr>
              <a:t>double</a:t>
            </a:r>
            <a:r>
              <a:rPr lang="ro-RO" sz="2800" noProof="0" dirty="0">
                <a:solidFill>
                  <a:srgbClr val="00B0F0"/>
                </a:solidFill>
              </a:rPr>
              <a:t>.</a:t>
            </a:r>
          </a:p>
          <a:p>
            <a:pPr marL="548640" indent="-514350" algn="just">
              <a:buFont typeface="+mj-lt"/>
              <a:buAutoNum type="arabicPeriod" startAt="5"/>
            </a:pPr>
            <a:r>
              <a:rPr lang="ro-RO" sz="2800" noProof="0" dirty="0">
                <a:solidFill>
                  <a:srgbClr val="00B0F0"/>
                </a:solidFill>
              </a:rPr>
              <a:t>ToInt16 - Convertește un tip într-un întreg pe 16 biți.</a:t>
            </a:r>
          </a:p>
          <a:p>
            <a:pPr marL="548640" indent="-514350" algn="just">
              <a:buFont typeface="+mj-lt"/>
              <a:buAutoNum type="arabicPeriod" startAt="5"/>
            </a:pPr>
            <a:r>
              <a:rPr lang="ro-RO" sz="2800" noProof="0" dirty="0">
                <a:solidFill>
                  <a:srgbClr val="00B0F0"/>
                </a:solidFill>
              </a:rPr>
              <a:t>ToInt32 - Convertește un tip într-un întreg pe 32 de biți.</a:t>
            </a: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384824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9EF1-5E3F-898A-C475-782389A0CD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2335E0-2056-8122-2BCC-D4BB9485DDFB}"/>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AACC6768-74AD-3763-B173-A55D040641A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Metode de conversie a tipurilor C#</a:t>
            </a:r>
          </a:p>
          <a:p>
            <a:pPr marL="34290" indent="0" algn="just">
              <a:buNone/>
            </a:pPr>
            <a:r>
              <a:rPr lang="ro-RO" sz="2800" noProof="0" dirty="0">
                <a:solidFill>
                  <a:srgbClr val="00B0F0"/>
                </a:solidFill>
              </a:rPr>
              <a:t>C# oferă următoarele metode de conversie a tipurilor incorporate:</a:t>
            </a:r>
          </a:p>
          <a:p>
            <a:pPr marL="548640" indent="-514350" algn="just">
              <a:buFont typeface="+mj-lt"/>
              <a:buAutoNum type="arabicPeriod" startAt="9"/>
            </a:pPr>
            <a:r>
              <a:rPr lang="ro-RO" sz="2800" noProof="0" dirty="0">
                <a:solidFill>
                  <a:srgbClr val="00B0F0"/>
                </a:solidFill>
              </a:rPr>
              <a:t>ToInt64 - Convertește un tip într-un întreg pe 64 de biți.</a:t>
            </a:r>
          </a:p>
          <a:p>
            <a:pPr marL="548640" indent="-514350" algn="just">
              <a:buFont typeface="+mj-lt"/>
              <a:buAutoNum type="arabicPeriod" startAt="9"/>
            </a:pPr>
            <a:r>
              <a:rPr lang="ro-RO" sz="2800" noProof="0" dirty="0" err="1">
                <a:solidFill>
                  <a:srgbClr val="00B0F0"/>
                </a:solidFill>
              </a:rPr>
              <a:t>ToSbyte</a:t>
            </a:r>
            <a:r>
              <a:rPr lang="ro-RO" sz="2800" noProof="0" dirty="0">
                <a:solidFill>
                  <a:srgbClr val="00B0F0"/>
                </a:solidFill>
              </a:rPr>
              <a:t> - Convertește un tip într-un tip de tip octet cu semn.</a:t>
            </a:r>
          </a:p>
          <a:p>
            <a:pPr marL="548640" indent="-514350" algn="just">
              <a:buFont typeface="+mj-lt"/>
              <a:buAutoNum type="arabicPeriod" startAt="9"/>
            </a:pPr>
            <a:r>
              <a:rPr lang="ro-RO" sz="2800" noProof="0" dirty="0" err="1">
                <a:solidFill>
                  <a:srgbClr val="00B0F0"/>
                </a:solidFill>
              </a:rPr>
              <a:t>ToSingle</a:t>
            </a:r>
            <a:r>
              <a:rPr lang="ro-RO" sz="2800" noProof="0" dirty="0">
                <a:solidFill>
                  <a:srgbClr val="00B0F0"/>
                </a:solidFill>
              </a:rPr>
              <a:t> - Convertește un tip într-un număr mic cu virgulă mobilă.</a:t>
            </a:r>
          </a:p>
          <a:p>
            <a:pPr marL="548640" indent="-514350" algn="just">
              <a:buFont typeface="+mj-lt"/>
              <a:buAutoNum type="arabicPeriod" startAt="9"/>
            </a:pPr>
            <a:r>
              <a:rPr lang="ro-RO" sz="2800" noProof="0" dirty="0" err="1">
                <a:solidFill>
                  <a:srgbClr val="00B0F0"/>
                </a:solidFill>
              </a:rPr>
              <a:t>ToString</a:t>
            </a:r>
            <a:r>
              <a:rPr lang="ro-RO" sz="2800" noProof="0" dirty="0">
                <a:solidFill>
                  <a:srgbClr val="00B0F0"/>
                </a:solidFill>
              </a:rPr>
              <a:t> - Convertește un tip într-un șir de caractere.</a:t>
            </a: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219211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4C503-DCBA-908E-DBE3-CB96F95808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2D5B0B-64B4-5E2E-A96B-AA64E73BC25D}"/>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99A2304-15EC-B2BE-2812-F6D2BF7EA68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Metode de conversie a tipurilor C#</a:t>
            </a:r>
          </a:p>
          <a:p>
            <a:pPr marL="34290" indent="0" algn="just">
              <a:buNone/>
            </a:pPr>
            <a:r>
              <a:rPr lang="ro-RO" sz="2800" noProof="0" dirty="0">
                <a:solidFill>
                  <a:srgbClr val="00B0F0"/>
                </a:solidFill>
              </a:rPr>
              <a:t>C# oferă următoarele metode de conversie a tipurilor incorporate:</a:t>
            </a:r>
          </a:p>
          <a:p>
            <a:pPr marL="548640" indent="-514350" algn="just">
              <a:buFont typeface="+mj-lt"/>
              <a:buAutoNum type="arabicPeriod" startAt="13"/>
            </a:pPr>
            <a:r>
              <a:rPr lang="ro-RO" sz="2800" noProof="0" dirty="0" err="1">
                <a:solidFill>
                  <a:srgbClr val="00B0F0"/>
                </a:solidFill>
              </a:rPr>
              <a:t>ToType</a:t>
            </a:r>
            <a:r>
              <a:rPr lang="ro-RO" sz="2800" noProof="0" dirty="0">
                <a:solidFill>
                  <a:srgbClr val="00B0F0"/>
                </a:solidFill>
              </a:rPr>
              <a:t> - Convertește un tip într-un tip specificat.</a:t>
            </a:r>
          </a:p>
          <a:p>
            <a:pPr marL="548640" indent="-514350" algn="just">
              <a:buFont typeface="+mj-lt"/>
              <a:buAutoNum type="arabicPeriod" startAt="13"/>
            </a:pPr>
            <a:r>
              <a:rPr lang="ro-RO" sz="2800" noProof="0" dirty="0">
                <a:solidFill>
                  <a:srgbClr val="00B0F0"/>
                </a:solidFill>
              </a:rPr>
              <a:t>ToUInt16 - Convertește un tip într-un tip întreg fără semn.</a:t>
            </a:r>
          </a:p>
          <a:p>
            <a:pPr marL="548640" indent="-514350" algn="just">
              <a:buFont typeface="+mj-lt"/>
              <a:buAutoNum type="arabicPeriod" startAt="13"/>
            </a:pPr>
            <a:r>
              <a:rPr lang="ro-RO" sz="2800" noProof="0" dirty="0">
                <a:solidFill>
                  <a:srgbClr val="00B0F0"/>
                </a:solidFill>
              </a:rPr>
              <a:t>ToUInt32 - Convertește un tip într-un tip lung fără semn.</a:t>
            </a:r>
          </a:p>
          <a:p>
            <a:pPr marL="548640" indent="-514350" algn="just">
              <a:buFont typeface="+mj-lt"/>
              <a:buAutoNum type="arabicPeriod" startAt="13"/>
            </a:pPr>
            <a:r>
              <a:rPr lang="ro-RO" sz="2800" noProof="0" dirty="0">
                <a:solidFill>
                  <a:srgbClr val="00B0F0"/>
                </a:solidFill>
              </a:rPr>
              <a:t>ToUInt64 - Convertește un tip într-un număr întreg mare fără semn.</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149254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DFA49-04E8-8CD7-F25E-0E42994135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3C6667-4F9A-2085-D942-A562EC14432B}"/>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B964617A-EDFC-B8EB-CE0C-37A14D41691B}"/>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TypeConversionApplication</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StringConversion</a:t>
            </a:r>
            <a:r>
              <a:rPr lang="ro-RO" sz="2400" b="1" i="0" noProof="0" dirty="0">
                <a:solidFill>
                  <a:srgbClr val="CCCCCC"/>
                </a:solidFill>
                <a:effectLst/>
                <a:latin typeface="Courier New" panose="02070309020205020404" pitchFamily="49" charset="0"/>
              </a:rPr>
              <a:t> {</a:t>
            </a:r>
          </a:p>
          <a:p>
            <a:pPr marL="240030" lvl="1" indent="0" algn="just">
              <a:buNone/>
            </a:pP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a:t>
            </a:r>
          </a:p>
          <a:p>
            <a:pPr marL="240030" lvl="1"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75</a:t>
            </a:r>
            <a:r>
              <a:rPr lang="ro-RO" sz="2400" b="1" i="0" noProof="0" dirty="0">
                <a:solidFill>
                  <a:srgbClr val="CCCCCC"/>
                </a:solidFill>
                <a:effectLst/>
                <a:latin typeface="Courier New" panose="02070309020205020404" pitchFamily="49" charset="0"/>
              </a:rPr>
              <a:t>;</a:t>
            </a:r>
          </a:p>
          <a:p>
            <a:pPr marL="240030" lvl="1"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float</a:t>
            </a:r>
            <a:r>
              <a:rPr lang="ro-RO" sz="2400" b="1" i="0" noProof="0" dirty="0">
                <a:solidFill>
                  <a:srgbClr val="CCCCCC"/>
                </a:solidFill>
                <a:effectLst/>
                <a:latin typeface="Courier New" panose="02070309020205020404" pitchFamily="49" charset="0"/>
              </a:rPr>
              <a:t> f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53.005f</a:t>
            </a:r>
            <a:r>
              <a:rPr lang="ro-RO" sz="2400" b="1" i="0" noProof="0" dirty="0">
                <a:solidFill>
                  <a:srgbClr val="CCCCCC"/>
                </a:solidFill>
                <a:effectLst/>
                <a:latin typeface="Courier New" panose="02070309020205020404" pitchFamily="49" charset="0"/>
              </a:rPr>
              <a:t>;</a:t>
            </a:r>
          </a:p>
          <a:p>
            <a:pPr marL="240030" lvl="1"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double</a:t>
            </a:r>
            <a:r>
              <a:rPr lang="ro-RO" sz="2400" b="1" i="0" noProof="0" dirty="0">
                <a:solidFill>
                  <a:srgbClr val="CCCCCC"/>
                </a:solidFill>
                <a:effectLst/>
                <a:latin typeface="Courier New" panose="02070309020205020404" pitchFamily="49" charset="0"/>
              </a:rPr>
              <a:t> d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2345.7652</a:t>
            </a:r>
            <a:r>
              <a:rPr lang="ro-RO" sz="2400" b="1" i="0" noProof="0" dirty="0">
                <a:solidFill>
                  <a:srgbClr val="CCCCCC"/>
                </a:solidFill>
                <a:effectLst/>
                <a:latin typeface="Courier New" panose="02070309020205020404" pitchFamily="49" charset="0"/>
              </a:rPr>
              <a:t>;</a:t>
            </a:r>
          </a:p>
          <a:p>
            <a:pPr marL="240030" lvl="1" indent="0">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bool</a:t>
            </a:r>
            <a:r>
              <a:rPr lang="ro-RO" sz="2400" b="1" i="0" noProof="0" dirty="0">
                <a:solidFill>
                  <a:srgbClr val="CCCCCC"/>
                </a:solidFill>
                <a:effectLst/>
                <a:latin typeface="Courier New" panose="02070309020205020404" pitchFamily="49" charset="0"/>
              </a:rPr>
              <a:t> b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F08D49"/>
                </a:solidFill>
                <a:effectLst/>
                <a:latin typeface="Courier New" panose="02070309020205020404" pitchFamily="49" charset="0"/>
              </a:rPr>
              <a:t>true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i.</a:t>
            </a:r>
            <a:r>
              <a:rPr lang="ro-RO" sz="2400" b="1" i="0" noProof="0" dirty="0" err="1">
                <a:solidFill>
                  <a:srgbClr val="F08D49"/>
                </a:solidFill>
                <a:effectLst/>
                <a:latin typeface="Courier New" panose="02070309020205020404" pitchFamily="49" charset="0"/>
              </a:rPr>
              <a:t>ToString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f.</a:t>
            </a:r>
            <a:r>
              <a:rPr lang="ro-RO" sz="2400" b="1" i="0" noProof="0" dirty="0" err="1">
                <a:solidFill>
                  <a:srgbClr val="F08D49"/>
                </a:solidFill>
                <a:effectLst/>
                <a:latin typeface="Courier New" panose="02070309020205020404" pitchFamily="49" charset="0"/>
              </a:rPr>
              <a:t>ToString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d.</a:t>
            </a:r>
            <a:r>
              <a:rPr lang="ro-RO" sz="2400" b="1" i="0" noProof="0" dirty="0" err="1">
                <a:solidFill>
                  <a:srgbClr val="F08D49"/>
                </a:solidFill>
                <a:effectLst/>
                <a:latin typeface="Courier New" panose="02070309020205020404" pitchFamily="49" charset="0"/>
              </a:rPr>
              <a:t>ToString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b.</a:t>
            </a:r>
            <a:r>
              <a:rPr lang="ro-RO" sz="2400" b="1" i="0" noProof="0" dirty="0" err="1">
                <a:solidFill>
                  <a:srgbClr val="F08D49"/>
                </a:solidFill>
                <a:effectLst/>
                <a:latin typeface="Courier New" panose="02070309020205020404" pitchFamily="49" charset="0"/>
              </a:rPr>
              <a:t>ToString</a:t>
            </a:r>
            <a:r>
              <a:rPr lang="ro-RO" sz="2400" b="1" i="0" noProof="0" dirty="0">
                <a:solidFill>
                  <a:srgbClr val="CCCCCC"/>
                </a:solidFill>
                <a:effectLst/>
                <a:latin typeface="Courier New" panose="02070309020205020404" pitchFamily="49" charset="0"/>
              </a:rPr>
              <a:t>()); 	</a:t>
            </a:r>
          </a:p>
          <a:p>
            <a:pPr marL="240030" lvl="1" indent="0">
              <a:buNone/>
            </a:pP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4100618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B55B5-F2C7-E7E5-65C5-2B81FCDAC8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65AC2A-0B20-D0D6-3251-AF4F5BFF4D8C}"/>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D557072E-917A-824E-1BC1-CEFCC45E876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Variabile C#</a:t>
            </a:r>
          </a:p>
          <a:p>
            <a:pPr marL="34290" indent="0" algn="just">
              <a:buNone/>
            </a:pPr>
            <a:r>
              <a:rPr lang="ro-RO" sz="2800" noProof="0" dirty="0">
                <a:solidFill>
                  <a:srgbClr val="00B0F0"/>
                </a:solidFill>
              </a:rPr>
              <a:t>Variabilele C# sunt elemente fundamentale în orice program C# și sunt utilizate pentru stocarea datelor. Puteți atribui, accesa și manipula datele cu </a:t>
            </a:r>
          </a:p>
          <a:p>
            <a:pPr marL="34290" indent="0" algn="just">
              <a:buNone/>
            </a:pPr>
            <a:r>
              <a:rPr lang="ro-RO" sz="2800" noProof="0" dirty="0">
                <a:solidFill>
                  <a:srgbClr val="00B0F0"/>
                </a:solidFill>
              </a:rPr>
              <a:t>Variabilele C# sunt containerele pentru stocarea datelor și vă ajută să accesați și să manipulați datele în timpul execuției programului. O variabilă trebuie declarată utilizând un anumit tip de date care poate stoca acel tip de valoare.</a:t>
            </a:r>
          </a:p>
        </p:txBody>
      </p:sp>
    </p:spTree>
    <p:extLst>
      <p:ext uri="{BB962C8B-B14F-4D97-AF65-F5344CB8AC3E}">
        <p14:creationId xmlns:p14="http://schemas.microsoft.com/office/powerpoint/2010/main" val="3296862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0F8A8-CA5F-100C-3FA5-0D3B72E18E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8D8443-82F7-4231-18A4-EA8CD04B32E8}"/>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E3C2B048-AFB6-56C6-9453-9E9F631970F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 ce sunt importante variabilele în C#?</a:t>
            </a:r>
          </a:p>
          <a:p>
            <a:pPr algn="just"/>
            <a:r>
              <a:rPr lang="ro-RO" sz="2800" noProof="0" dirty="0">
                <a:solidFill>
                  <a:srgbClr val="00B0F0"/>
                </a:solidFill>
              </a:rPr>
              <a:t>Stocarea datelor: Variabilele vă permit să stocați date precum numere, text și multe altele.</a:t>
            </a:r>
          </a:p>
          <a:p>
            <a:pPr algn="just"/>
            <a:r>
              <a:rPr lang="ro-RO" sz="2800" noProof="0" dirty="0">
                <a:solidFill>
                  <a:srgbClr val="00B0F0"/>
                </a:solidFill>
              </a:rPr>
              <a:t>Manipularea datelor: Puteți manipula datele din variabile pentru a efectua calcule, transformări sau afișa rezultate.</a:t>
            </a:r>
          </a:p>
          <a:p>
            <a:pPr algn="just"/>
            <a:r>
              <a:rPr lang="ro-RO" sz="2800" noProof="0" dirty="0">
                <a:solidFill>
                  <a:srgbClr val="00B0F0"/>
                </a:solidFill>
              </a:rPr>
              <a:t>Controlul fluxului de program: Variabilele ajută la gestionarea și controlul modului în care datele circulă prin program.</a:t>
            </a:r>
          </a:p>
        </p:txBody>
      </p:sp>
    </p:spTree>
    <p:extLst>
      <p:ext uri="{BB962C8B-B14F-4D97-AF65-F5344CB8AC3E}">
        <p14:creationId xmlns:p14="http://schemas.microsoft.com/office/powerpoint/2010/main" val="2788456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948D1-2F58-E27B-CB38-0F6383BA33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FFE350-FC7C-20DF-6FC1-568FB1778090}"/>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F4373050-FC07-399F-AFD7-9AC3C714F60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Declararea variabilelor în C#</a:t>
            </a:r>
          </a:p>
          <a:p>
            <a:pPr marL="34290" indent="0" algn="just">
              <a:buNone/>
            </a:pPr>
            <a:r>
              <a:rPr lang="ro-RO" sz="2800" noProof="0" dirty="0">
                <a:solidFill>
                  <a:srgbClr val="00B0F0"/>
                </a:solidFill>
              </a:rPr>
              <a:t>In C# declararea unei variabile se face specificând tipul de date și un nume de variabilă.</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Sintaxa:</a:t>
            </a:r>
          </a:p>
          <a:p>
            <a:pPr marL="34290" indent="0" algn="just">
              <a:buNone/>
            </a:pP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data_type</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variable_name</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a:t>
            </a:r>
          </a:p>
          <a:p>
            <a:pPr marL="34290" indent="0" algn="just">
              <a:buNone/>
            </a:pPr>
            <a:endParaRPr lang="ro-RO" sz="2400" b="1" noProof="0" dirty="0">
              <a:solidFill>
                <a:srgbClr val="CCCCCC"/>
              </a:solidFill>
              <a:latin typeface="Courier New" panose="02070309020205020404" pitchFamily="49" charset="0"/>
            </a:endParaRPr>
          </a:p>
          <a:p>
            <a:pPr marL="34290" indent="0" algn="just">
              <a:buNone/>
            </a:pPr>
            <a:r>
              <a:rPr lang="ro-RO" sz="2800" noProof="0" dirty="0">
                <a:solidFill>
                  <a:srgbClr val="00B0F0"/>
                </a:solidFill>
              </a:rPr>
              <a:t>Exemplu</a:t>
            </a:r>
            <a:r>
              <a:rPr lang="ro-RO" sz="2400" noProof="0" dirty="0">
                <a:solidFill>
                  <a:srgbClr val="00B0F0"/>
                </a:solidFill>
              </a:rPr>
              <a:t>:</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age</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name</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15297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98FCA-C418-60A3-3C49-2A69848D80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F9A409-80D3-90C1-1527-5507D7C0D7F5}"/>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7B9A1CA2-854D-1C77-EAAD-374D5321678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Inițializarea variabilelor C#</a:t>
            </a:r>
          </a:p>
          <a:p>
            <a:pPr marL="34290" indent="0" algn="just">
              <a:buNone/>
            </a:pPr>
            <a:r>
              <a:rPr lang="ro-RO" sz="2800" noProof="0" dirty="0">
                <a:solidFill>
                  <a:srgbClr val="00B0F0"/>
                </a:solidFill>
              </a:rPr>
              <a:t>După declararea unei variabile, acesta poate fi inițializată cu o valoare.</a:t>
            </a:r>
          </a:p>
          <a:p>
            <a:pPr marL="34290" indent="0" algn="just">
              <a:buNone/>
            </a:pPr>
            <a:r>
              <a:rPr lang="ro-RO" sz="2800" noProof="0" dirty="0">
                <a:solidFill>
                  <a:srgbClr val="00B0F0"/>
                </a:solidFill>
              </a:rPr>
              <a:t>Exemplu:</a:t>
            </a:r>
          </a:p>
          <a:p>
            <a:pPr marL="34290" indent="0" algn="just">
              <a:buNone/>
            </a:pPr>
            <a:r>
              <a:rPr lang="ro-RO" sz="2400" b="1" i="0" noProof="0" dirty="0" err="1">
                <a:solidFill>
                  <a:srgbClr val="CC99CD"/>
                </a:solidFill>
                <a:effectLst/>
                <a:latin typeface="Courier New" panose="02070309020205020404" pitchFamily="49" charset="0"/>
                <a:cs typeface="Courier New" panose="02070309020205020404" pitchFamily="49" charset="0"/>
              </a:rPr>
              <a:t>int</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err="1">
                <a:solidFill>
                  <a:srgbClr val="CCCCCC"/>
                </a:solidFill>
                <a:effectLst/>
                <a:latin typeface="Courier New" panose="02070309020205020404" pitchFamily="49" charset="0"/>
                <a:cs typeface="Courier New" panose="02070309020205020404" pitchFamily="49" charset="0"/>
              </a:rPr>
              <a:t>age</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a:solidFill>
                  <a:srgbClr val="67CDCC"/>
                </a:solidFill>
                <a:effectLst/>
                <a:latin typeface="Courier New" panose="02070309020205020404" pitchFamily="49" charset="0"/>
                <a:cs typeface="Courier New" panose="02070309020205020404" pitchFamily="49" charset="0"/>
              </a:rPr>
              <a:t>=</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a:solidFill>
                  <a:srgbClr val="F08D49"/>
                </a:solidFill>
                <a:effectLst/>
                <a:latin typeface="Courier New" panose="02070309020205020404" pitchFamily="49" charset="0"/>
                <a:cs typeface="Courier New" panose="02070309020205020404" pitchFamily="49" charset="0"/>
              </a:rPr>
              <a:t>21</a:t>
            </a:r>
            <a:r>
              <a:rPr lang="ro-RO" sz="2400" b="1" i="0" noProof="0" dirty="0">
                <a:solidFill>
                  <a:srgbClr val="CCCCCC"/>
                </a:solidFill>
                <a:effectLst/>
                <a:latin typeface="Courier New" panose="02070309020205020404" pitchFamily="49" charset="0"/>
                <a:cs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cs typeface="Courier New" panose="02070309020205020404" pitchFamily="49" charset="0"/>
              </a:rPr>
              <a:t>string</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err="1">
                <a:solidFill>
                  <a:srgbClr val="CCCCCC"/>
                </a:solidFill>
                <a:effectLst/>
                <a:latin typeface="Courier New" panose="02070309020205020404" pitchFamily="49" charset="0"/>
                <a:cs typeface="Courier New" panose="02070309020205020404" pitchFamily="49" charset="0"/>
              </a:rPr>
              <a:t>name</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a:solidFill>
                  <a:srgbClr val="67CDCC"/>
                </a:solidFill>
                <a:effectLst/>
                <a:latin typeface="Courier New" panose="02070309020205020404" pitchFamily="49" charset="0"/>
                <a:cs typeface="Courier New" panose="02070309020205020404" pitchFamily="49" charset="0"/>
              </a:rPr>
              <a:t>=</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a:solidFill>
                  <a:srgbClr val="7EC699"/>
                </a:solidFill>
                <a:effectLst/>
                <a:latin typeface="Courier New" panose="02070309020205020404" pitchFamily="49" charset="0"/>
                <a:cs typeface="Courier New" panose="02070309020205020404" pitchFamily="49" charset="0"/>
              </a:rPr>
              <a:t>"</a:t>
            </a:r>
            <a:r>
              <a:rPr lang="ro-RO" sz="2400" b="1" i="0" noProof="0" dirty="0" err="1">
                <a:solidFill>
                  <a:srgbClr val="7EC699"/>
                </a:solidFill>
                <a:effectLst/>
                <a:latin typeface="Courier New" panose="02070309020205020404" pitchFamily="49" charset="0"/>
                <a:cs typeface="Courier New" panose="02070309020205020404" pitchFamily="49" charset="0"/>
              </a:rPr>
              <a:t>Zoya</a:t>
            </a:r>
            <a:r>
              <a:rPr lang="ro-RO" sz="2400" b="1" i="0" noProof="0" dirty="0">
                <a:solidFill>
                  <a:srgbClr val="7EC699"/>
                </a:solidFill>
                <a:effectLst/>
                <a:latin typeface="Courier New" panose="02070309020205020404" pitchFamily="49" charset="0"/>
                <a:cs typeface="Courier New" panose="02070309020205020404" pitchFamily="49" charset="0"/>
              </a:rPr>
              <a:t>"</a:t>
            </a:r>
            <a:r>
              <a:rPr lang="ro-RO" sz="2400" b="1" i="0" noProof="0" dirty="0">
                <a:solidFill>
                  <a:srgbClr val="CCCCCC"/>
                </a:solidFill>
                <a:effectLst/>
                <a:latin typeface="Courier New" panose="02070309020205020404" pitchFamily="49" charset="0"/>
                <a:cs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cs typeface="Courier New" panose="02070309020205020404" pitchFamily="49" charset="0"/>
              </a:rPr>
              <a:t>bool</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err="1">
                <a:solidFill>
                  <a:srgbClr val="CCCCCC"/>
                </a:solidFill>
                <a:effectLst/>
                <a:latin typeface="Courier New" panose="02070309020205020404" pitchFamily="49" charset="0"/>
                <a:cs typeface="Courier New" panose="02070309020205020404" pitchFamily="49" charset="0"/>
              </a:rPr>
              <a:t>isActive</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a:solidFill>
                  <a:srgbClr val="67CDCC"/>
                </a:solidFill>
                <a:effectLst/>
                <a:latin typeface="Courier New" panose="02070309020205020404" pitchFamily="49" charset="0"/>
                <a:cs typeface="Courier New" panose="02070309020205020404" pitchFamily="49" charset="0"/>
              </a:rPr>
              <a:t>=</a:t>
            </a:r>
            <a:r>
              <a:rPr lang="ro-RO" sz="2400" b="1" i="0" noProof="0" dirty="0">
                <a:solidFill>
                  <a:srgbClr val="CCCCCC"/>
                </a:solidFill>
                <a:effectLst/>
                <a:latin typeface="Courier New" panose="02070309020205020404" pitchFamily="49" charset="0"/>
                <a:cs typeface="Courier New" panose="02070309020205020404" pitchFamily="49" charset="0"/>
              </a:rPr>
              <a:t> </a:t>
            </a:r>
            <a:r>
              <a:rPr lang="ro-RO" sz="2400" b="1" i="0" noProof="0" dirty="0" err="1">
                <a:solidFill>
                  <a:srgbClr val="F08D49"/>
                </a:solidFill>
                <a:effectLst/>
                <a:latin typeface="Courier New" panose="02070309020205020404" pitchFamily="49" charset="0"/>
                <a:cs typeface="Courier New" panose="02070309020205020404" pitchFamily="49" charset="0"/>
              </a:rPr>
              <a:t>true</a:t>
            </a:r>
            <a:r>
              <a:rPr lang="ro-RO" sz="2400" b="1" i="0" noProof="0" dirty="0">
                <a:solidFill>
                  <a:srgbClr val="CCCCCC"/>
                </a:solidFill>
                <a:effectLst/>
                <a:latin typeface="Courier New" panose="02070309020205020404" pitchFamily="49" charset="0"/>
                <a:cs typeface="Courier New" panose="02070309020205020404" pitchFamily="49" charset="0"/>
              </a:rPr>
              <a:t>;</a:t>
            </a:r>
          </a:p>
          <a:p>
            <a:pPr marL="34290" indent="0" algn="just">
              <a:buNone/>
            </a:pPr>
            <a:r>
              <a:rPr lang="ro-RO" sz="2400" noProof="0" dirty="0">
                <a:solidFill>
                  <a:srgbClr val="00B0F0"/>
                </a:solidFill>
                <a:cs typeface="Courier New" panose="02070309020205020404" pitchFamily="49" charset="0"/>
              </a:rPr>
              <a:t>Sau</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age</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CCCC"/>
                </a:solidFill>
                <a:effectLst/>
                <a:latin typeface="Courier New" panose="02070309020205020404" pitchFamily="49" charset="0"/>
              </a:rPr>
              <a:t>age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25</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latin typeface="Courier New" panose="02070309020205020404" pitchFamily="49" charset="0"/>
              <a:cs typeface="Courier New" panose="02070309020205020404" pitchFamily="49" charset="0"/>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088540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D4391-ADC4-FF3A-5016-5E03D5EB14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FA99D1-87FE-5296-435C-C9BE337C95D1}"/>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1A3485F3-6E00-FABE-9B47-1AD5DACE763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Inițializarea variabilelor C#</a:t>
            </a:r>
          </a:p>
          <a:p>
            <a:pPr marL="34290" indent="0" algn="just">
              <a:buNone/>
            </a:pPr>
            <a:endParaRPr lang="ro-RO" sz="2400" b="1" i="0" noProof="0" dirty="0">
              <a:solidFill>
                <a:srgbClr val="CC99CD"/>
              </a:solidFill>
              <a:effectLst/>
              <a:latin typeface="Courier New" panose="02070309020205020404" pitchFamily="49" charset="0"/>
            </a:endParaRPr>
          </a:p>
          <a:p>
            <a:pPr marL="34290" indent="0" algn="just">
              <a:buNone/>
            </a:pP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name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"Alice"</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a:t>
            </a:r>
            <a:r>
              <a:rPr lang="ro-RO" sz="2400" b="1" i="0" noProof="0" dirty="0">
                <a:solidFill>
                  <a:srgbClr val="CCCCCC"/>
                </a:solidFill>
                <a:effectLst/>
                <a:latin typeface="Courier New" panose="02070309020205020404" pitchFamily="49" charset="0"/>
              </a:rPr>
              <a:t> };</a:t>
            </a:r>
          </a:p>
          <a:p>
            <a:pPr marL="34290" indent="0" algn="just">
              <a:buNone/>
            </a:pPr>
            <a:endParaRPr lang="ro-RO" sz="2400" b="1" noProof="0" dirty="0">
              <a:solidFill>
                <a:srgbClr val="CCCCCC"/>
              </a:solidFill>
              <a:latin typeface="Courier New" panose="02070309020205020404" pitchFamily="49" charset="0"/>
            </a:endParaRPr>
          </a:p>
          <a:p>
            <a:pPr marL="34290" indent="0" algn="just">
              <a:buNone/>
            </a:pPr>
            <a:r>
              <a:rPr lang="ro-RO" sz="2800" noProof="0" dirty="0">
                <a:solidFill>
                  <a:srgbClr val="00B0F0"/>
                </a:solidFill>
              </a:rPr>
              <a:t>Variabile care acceptă valori NULL</a:t>
            </a:r>
          </a:p>
          <a:p>
            <a:pPr marL="34290" indent="0" algn="just">
              <a:buNone/>
            </a:pPr>
            <a:r>
              <a:rPr lang="ro-RO" sz="2800" noProof="0" dirty="0">
                <a:solidFill>
                  <a:srgbClr val="00B0F0"/>
                </a:solidFill>
              </a:rPr>
              <a:t>Variabilele care acceptă valori NULL pot conține o valoare NULL.</a:t>
            </a:r>
          </a:p>
          <a:p>
            <a:pPr marL="34290" indent="0" algn="just">
              <a:buNone/>
            </a:pP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age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null</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77724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623C-F7DE-02C6-8659-8A39AE0D8D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3316D3-6FA6-FC6C-3463-1625AEA0DCA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2E306081-99E0-9D47-F967-C57AF2C90A5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Cele mai bune practici pentru utilizarea variabilelor în C#</a:t>
            </a:r>
          </a:p>
          <a:p>
            <a:pPr marL="34290" indent="0" algn="just">
              <a:buNone/>
            </a:pPr>
            <a:endParaRPr lang="ro-RO" sz="2800" noProof="0" dirty="0">
              <a:solidFill>
                <a:srgbClr val="00B0F0"/>
              </a:solidFill>
            </a:endParaRPr>
          </a:p>
          <a:p>
            <a:pPr algn="just"/>
            <a:r>
              <a:rPr lang="ro-RO" sz="2800" noProof="0" dirty="0">
                <a:solidFill>
                  <a:schemeClr val="tx2"/>
                </a:solidFill>
              </a:rPr>
              <a:t>Utilizați nume descriptive</a:t>
            </a:r>
            <a:r>
              <a:rPr lang="ro-RO" sz="2800" noProof="0" dirty="0">
                <a:solidFill>
                  <a:srgbClr val="00B0F0"/>
                </a:solidFill>
              </a:rPr>
              <a:t>: Atunci când declarați variabile, alegeți întotdeauna nume de variabile semnificative care descriu scopul variabilelor care vor fi utilizate. De exemplu, utilizați </a:t>
            </a:r>
            <a:r>
              <a:rPr lang="ro-RO" sz="2800" noProof="0" dirty="0" err="1">
                <a:solidFill>
                  <a:srgbClr val="00B0F0"/>
                </a:solidFill>
              </a:rPr>
              <a:t>studentAge</a:t>
            </a:r>
            <a:r>
              <a:rPr lang="ro-RO" sz="2800" noProof="0" dirty="0">
                <a:solidFill>
                  <a:srgbClr val="00B0F0"/>
                </a:solidFill>
              </a:rPr>
              <a:t> pentru a stoca vârsta unui student în loc de x.</a:t>
            </a:r>
          </a:p>
        </p:txBody>
      </p:sp>
    </p:spTree>
    <p:extLst>
      <p:ext uri="{BB962C8B-B14F-4D97-AF65-F5344CB8AC3E}">
        <p14:creationId xmlns:p14="http://schemas.microsoft.com/office/powerpoint/2010/main" val="3239006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07EFA-B850-D5ED-FA33-7C2CC9A53D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759554-AFA4-FA16-F03B-B557750594C5}"/>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CE257918-8AEC-0EB2-A7B2-353E4BDE57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Cele mai bune practici pentru utilizarea variabilelor în C#</a:t>
            </a:r>
          </a:p>
          <a:p>
            <a:pPr algn="just"/>
            <a:r>
              <a:rPr lang="ro-RO" sz="2800" noProof="0" dirty="0">
                <a:solidFill>
                  <a:schemeClr val="tx2"/>
                </a:solidFill>
              </a:rPr>
              <a:t>Respectați convențiile de denumire</a:t>
            </a:r>
            <a:r>
              <a:rPr lang="ro-RO" sz="2800" noProof="0" dirty="0">
                <a:solidFill>
                  <a:srgbClr val="00B0F0"/>
                </a:solidFill>
              </a:rPr>
              <a:t>: Trebuie să respectați convențiile de denumire atunci când declarați variabilele. C# recomandă utilizarea </a:t>
            </a:r>
            <a:r>
              <a:rPr lang="ro-RO" sz="2800" noProof="0" dirty="0" err="1">
                <a:solidFill>
                  <a:srgbClr val="00B0F0"/>
                </a:solidFill>
              </a:rPr>
              <a:t>camelCase</a:t>
            </a:r>
            <a:r>
              <a:rPr lang="ro-RO" sz="2800" noProof="0" dirty="0">
                <a:solidFill>
                  <a:srgbClr val="00B0F0"/>
                </a:solidFill>
              </a:rPr>
              <a:t> pentru variabilele locale și </a:t>
            </a:r>
            <a:r>
              <a:rPr lang="ro-RO" sz="2800" noProof="0" dirty="0" err="1">
                <a:solidFill>
                  <a:srgbClr val="00B0F0"/>
                </a:solidFill>
              </a:rPr>
              <a:t>PascalCase</a:t>
            </a:r>
            <a:r>
              <a:rPr lang="ro-RO" sz="2800" noProof="0" dirty="0">
                <a:solidFill>
                  <a:srgbClr val="00B0F0"/>
                </a:solidFill>
              </a:rPr>
              <a:t> pentru variabilele la nivel de clasă.</a:t>
            </a:r>
          </a:p>
          <a:p>
            <a:pPr algn="just"/>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studentAge</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CamelCase</a:t>
            </a:r>
            <a:r>
              <a:rPr lang="ro-RO" sz="2400" b="1" i="0" noProof="0" dirty="0">
                <a:solidFill>
                  <a:srgbClr val="999999"/>
                </a:solidFill>
                <a:effectLst/>
                <a:latin typeface="Courier New" panose="02070309020205020404" pitchFamily="49" charset="0"/>
              </a:rPr>
              <a:t> for local </a:t>
            </a:r>
            <a:r>
              <a:rPr lang="ro-RO" sz="2400" b="1" i="0" noProof="0" dirty="0" err="1">
                <a:solidFill>
                  <a:srgbClr val="999999"/>
                </a:solidFill>
                <a:effectLst/>
                <a:latin typeface="Courier New" panose="02070309020205020404" pitchFamily="49" charset="0"/>
              </a:rPr>
              <a:t>variable</a:t>
            </a:r>
            <a:endParaRPr lang="ro-RO" sz="2400" b="1" noProof="0" dirty="0">
              <a:solidFill>
                <a:srgbClr val="CCCCCC"/>
              </a:solidFill>
              <a:latin typeface="Courier New" panose="02070309020205020404" pitchFamily="49" charset="0"/>
            </a:endParaRPr>
          </a:p>
          <a:p>
            <a:pPr marL="34290" indent="0" algn="just">
              <a:buNone/>
            </a:pPr>
            <a:r>
              <a:rPr lang="ro-RO" sz="2400" b="1" i="0" noProof="0" dirty="0">
                <a:solidFill>
                  <a:srgbClr val="CC99CD"/>
                </a:solidFill>
                <a:effectLst/>
                <a:latin typeface="Courier New" panose="02070309020205020404" pitchFamily="49" charset="0"/>
              </a:rPr>
              <a:t>public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StudentName</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PascalCase</a:t>
            </a:r>
            <a:r>
              <a:rPr lang="ro-RO" sz="2400" b="1" i="0" noProof="0" dirty="0">
                <a:solidFill>
                  <a:srgbClr val="999999"/>
                </a:solidFill>
                <a:effectLst/>
                <a:latin typeface="Courier New" panose="02070309020205020404" pitchFamily="49" charset="0"/>
              </a:rPr>
              <a:t> for </a:t>
            </a:r>
            <a:r>
              <a:rPr lang="ro-RO" sz="2400" b="1" i="0" noProof="0" dirty="0" err="1">
                <a:solidFill>
                  <a:srgbClr val="999999"/>
                </a:solidFill>
                <a:effectLst/>
                <a:latin typeface="Courier New" panose="02070309020205020404" pitchFamily="49" charset="0"/>
              </a:rPr>
              <a:t>class-level</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variable</a:t>
            </a:r>
            <a:endParaRPr lang="ro-RO" sz="2400" b="1" noProof="0" dirty="0">
              <a:solidFill>
                <a:srgbClr val="00B0F0"/>
              </a:solidFill>
            </a:endParaRPr>
          </a:p>
        </p:txBody>
      </p:sp>
    </p:spTree>
    <p:extLst>
      <p:ext uri="{BB962C8B-B14F-4D97-AF65-F5344CB8AC3E}">
        <p14:creationId xmlns:p14="http://schemas.microsoft.com/office/powerpoint/2010/main" val="1326895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FF7D3-2111-97FE-A5E8-7169B56028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168E9F-BF37-E968-C2E0-514C5670659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3FE64049-409D-89B3-BF80-F49D766023D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Cele mai bune practici pentru utilizarea variabilelor în C#</a:t>
            </a:r>
          </a:p>
          <a:p>
            <a:pPr algn="just"/>
            <a:r>
              <a:rPr lang="ro-RO" sz="2800" noProof="0" dirty="0">
                <a:solidFill>
                  <a:schemeClr val="tx2"/>
                </a:solidFill>
              </a:rPr>
              <a:t>Inițializarea variabilelor</a:t>
            </a:r>
            <a:r>
              <a:rPr lang="ro-RO" sz="2800" noProof="0" dirty="0">
                <a:solidFill>
                  <a:srgbClr val="00B0F0"/>
                </a:solidFill>
              </a:rPr>
              <a:t>: Variabilele ar trebui inițializate înainte de a fi utilizate pentru a evita rezultate neașteptate sau erori.</a:t>
            </a:r>
          </a:p>
          <a:p>
            <a:pPr algn="just"/>
            <a:r>
              <a:rPr lang="ro-RO" sz="2800" noProof="0" dirty="0">
                <a:solidFill>
                  <a:schemeClr val="tx2"/>
                </a:solidFill>
              </a:rPr>
              <a:t>Limitarea domeniului de aplicare al variabilelor</a:t>
            </a:r>
            <a:r>
              <a:rPr lang="ro-RO" sz="2800" noProof="0" dirty="0">
                <a:solidFill>
                  <a:srgbClr val="00B0F0"/>
                </a:solidFill>
              </a:rPr>
              <a:t>: Domeniul de aplicare al variabilelor ar trebui definit într-un mod corespunzător pentru a îmbunătăți lizibilitatea și </a:t>
            </a:r>
            <a:r>
              <a:rPr lang="ro-RO" sz="2800" noProof="0" dirty="0" err="1">
                <a:solidFill>
                  <a:srgbClr val="00B0F0"/>
                </a:solidFill>
              </a:rPr>
              <a:t>mentenabilitatea</a:t>
            </a:r>
            <a:r>
              <a:rPr lang="ro-RO" sz="2800" noProof="0" dirty="0">
                <a:solidFill>
                  <a:srgbClr val="00B0F0"/>
                </a:solidFill>
              </a:rPr>
              <a:t>. Declarați variabilele în cel mai mic domeniu de aplicare posibil.</a:t>
            </a:r>
          </a:p>
        </p:txBody>
      </p:sp>
    </p:spTree>
    <p:extLst>
      <p:ext uri="{BB962C8B-B14F-4D97-AF65-F5344CB8AC3E}">
        <p14:creationId xmlns:p14="http://schemas.microsoft.com/office/powerpoint/2010/main" val="3524031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E26A-74E7-DD9A-1D80-9D3A42D484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C59CED-EFB3-76F1-794F-03AF6D7AE3AF}"/>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788E6CEE-2D3D-893B-CC98-0648C8A1D51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Cele mai bune practici pentru utilizarea variabilelor în C#</a:t>
            </a:r>
          </a:p>
          <a:p>
            <a:pPr marL="34290" indent="0" algn="just">
              <a:buNone/>
            </a:pPr>
            <a:endParaRPr lang="ro-RO" sz="2800" noProof="0" dirty="0">
              <a:solidFill>
                <a:srgbClr val="00B0F0"/>
              </a:solidFill>
            </a:endParaRPr>
          </a:p>
          <a:p>
            <a:pPr algn="just"/>
            <a:r>
              <a:rPr lang="ro-RO" sz="2800" noProof="0" dirty="0">
                <a:solidFill>
                  <a:schemeClr val="tx2"/>
                </a:solidFill>
              </a:rPr>
              <a:t>Utilizați constante pentru valori fixe</a:t>
            </a:r>
            <a:r>
              <a:rPr lang="ro-RO" sz="2800" noProof="0" dirty="0">
                <a:solidFill>
                  <a:srgbClr val="00B0F0"/>
                </a:solidFill>
              </a:rPr>
              <a:t>: Valorile care nu se vor modifica în timpul execuției programului, ar trebui să le păstrați folosind constante. Acest lucru îmbunătățește claritatea și performanța codului.</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053330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CBF93-C386-CFFD-4EB4-CE6602D3EC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3D5330-7962-7535-536B-0F664D60CF8C}"/>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FFC91EF5-1BDA-52FA-9E7D-2DAE960E09E5}"/>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firstName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Sudhir</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lastName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Sharma</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userAge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28</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User</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firstName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lastName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Age</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userAge</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585802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C236-F4B2-F639-FD2B-BCDAF601D4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FDFB87-5EC1-71B8-E490-EE5A2EF273A8}"/>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F62FD589-EC55-E1C2-DD83-A96DD549A7AB}"/>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a:t>
            </a:r>
          </a:p>
          <a:p>
            <a:pPr marL="34290" indent="0" algn="just">
              <a:buNone/>
            </a:pP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shirts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12</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trousers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8</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totalClothes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shirts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trousers</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"Total </a:t>
            </a:r>
            <a:r>
              <a:rPr lang="ro-RO" sz="2400" b="1" i="0" noProof="0" dirty="0" err="1">
                <a:solidFill>
                  <a:srgbClr val="7EC699"/>
                </a:solidFill>
                <a:effectLst/>
                <a:latin typeface="Courier New" panose="02070309020205020404" pitchFamily="49" charset="0"/>
              </a:rPr>
              <a:t>number</a:t>
            </a:r>
            <a:r>
              <a:rPr lang="ro-RO" sz="2400" b="1" i="0" noProof="0" dirty="0">
                <a:solidFill>
                  <a:srgbClr val="7EC699"/>
                </a:solidFill>
                <a:effectLst/>
                <a:latin typeface="Courier New" panose="02070309020205020404" pitchFamily="49" charset="0"/>
              </a:rPr>
              <a:t> of 		</a:t>
            </a:r>
            <a:r>
              <a:rPr lang="ro-RO" sz="2400" b="1" i="0" noProof="0" dirty="0" err="1">
                <a:solidFill>
                  <a:srgbClr val="7EC699"/>
                </a:solidFill>
                <a:effectLst/>
                <a:latin typeface="Courier New" panose="02070309020205020404" pitchFamily="49" charset="0"/>
              </a:rPr>
              <a:t>clothes</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totalClothes</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2251314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E9885-54BB-C4C1-E2E4-04D974B0AE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DE5B0B-04CD-EE62-B633-CC3AF3E269BC}"/>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A964DFC2-8D95-AE84-1269-DE7F0DAADF04}"/>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bool</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isMember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F08D49"/>
                </a:solidFill>
                <a:effectLst/>
                <a:latin typeface="Courier New" panose="02070309020205020404" pitchFamily="49" charset="0"/>
              </a:rPr>
              <a:t>true</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isMember</a:t>
            </a:r>
            <a:r>
              <a:rPr lang="ro-RO" sz="2400" b="1" i="0" noProof="0" dirty="0">
                <a:solidFill>
                  <a:srgbClr val="CCCCCC"/>
                </a:solidFill>
                <a:effectLst/>
                <a:latin typeface="Courier New" panose="02070309020205020404" pitchFamily="49" charset="0"/>
              </a:rPr>
              <a:t>) {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"Welcome, 				</a:t>
            </a:r>
            <a:r>
              <a:rPr lang="ro-RO" sz="2400" b="1" i="0" noProof="0" dirty="0" err="1">
                <a:solidFill>
                  <a:srgbClr val="7EC699"/>
                </a:solidFill>
                <a:effectLst/>
                <a:latin typeface="Courier New" panose="02070309020205020404" pitchFamily="49" charset="0"/>
              </a:rPr>
              <a:t>valued</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member</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else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Please</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sign</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up</a:t>
            </a:r>
            <a:r>
              <a:rPr lang="ro-RO" sz="2400" b="1" i="0" noProof="0" dirty="0">
                <a:solidFill>
                  <a:srgbClr val="7EC699"/>
                </a:solidFill>
                <a:effectLst/>
                <a:latin typeface="Courier New" panose="02070309020205020404" pitchFamily="49" charset="0"/>
              </a:rPr>
              <a:t> for a </a:t>
            </a:r>
            <a:r>
              <a:rPr lang="ro-RO" sz="2400" b="1" i="0" noProof="0" dirty="0" err="1">
                <a:solidFill>
                  <a:srgbClr val="7EC699"/>
                </a:solidFill>
                <a:effectLst/>
                <a:latin typeface="Courier New" panose="02070309020205020404" pitchFamily="49" charset="0"/>
              </a:rPr>
              <a:t>membership</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219463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808F-C555-91F0-0618-EC8C9011AB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97EA12-91D7-A2E9-943D-88DBE5FF008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3B07F7A-2812-B547-973C-0D6DF4C2C9C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Constantele se referă la valori fixe pe care programul nu le poate modifica în timpul execuției sale. Aceste valori fixe sunt numite și literali. Constantele pot fi de oricare dintre tipurile de date de bază, cum ar fi o constantă întreagă, o constantă in virgulă mobilă, o constantă de tip caracter sau un literal de tip șir de caractere. Există, de asemenea, constante de enumerare.</a:t>
            </a:r>
          </a:p>
        </p:txBody>
      </p:sp>
    </p:spTree>
    <p:extLst>
      <p:ext uri="{BB962C8B-B14F-4D97-AF65-F5344CB8AC3E}">
        <p14:creationId xmlns:p14="http://schemas.microsoft.com/office/powerpoint/2010/main" val="98078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19886-A26E-E946-45E4-624F7A5215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2DEFD0-63EE-CFE9-016A-3B52D844EEEE}"/>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942B9A3D-CCA7-860B-E3CB-CD2419445C9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Constantele sunt tratate la fel ca variabilele obișnuite, cu excepția faptului că valorile lor nu pot fi modificate după definirea lor.</a:t>
            </a:r>
          </a:p>
          <a:p>
            <a:pPr marL="34290" indent="0" algn="just">
              <a:buNone/>
            </a:pPr>
            <a:endParaRPr lang="ro-RO" sz="2400" b="1" noProof="0" dirty="0">
              <a:solidFill>
                <a:srgbClr val="00B0F0"/>
              </a:solidFill>
            </a:endParaRPr>
          </a:p>
        </p:txBody>
      </p:sp>
    </p:spTree>
    <p:extLst>
      <p:ext uri="{BB962C8B-B14F-4D97-AF65-F5344CB8AC3E}">
        <p14:creationId xmlns:p14="http://schemas.microsoft.com/office/powerpoint/2010/main" val="587912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3F12D-D250-5F7B-A7DA-079357BB28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015AAA-FB65-F01E-D09A-C66D8E64DF19}"/>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1137A16A-A201-1842-5F26-1F6AE0E0E91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Literali întregi</a:t>
            </a:r>
          </a:p>
          <a:p>
            <a:pPr marL="34290" indent="0" algn="just">
              <a:buNone/>
            </a:pPr>
            <a:r>
              <a:rPr lang="ro-RO" sz="2800" noProof="0" dirty="0">
                <a:solidFill>
                  <a:srgbClr val="00B0F0"/>
                </a:solidFill>
              </a:rPr>
              <a:t>Un literal întreg poate fi o constantă zecimală sau hexazecimală. Un prefix specifică baza sau rădăcina: 0x sau 0X pentru hexazecimal și nu există un ID de prefix pentru zecimal.</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Un literal întreg poate avea și un sufix care este o combinație de U și L, pentru fără semn și respectiv lung. Sufixul poate fi litera mare sau mica și poate fi în orice ordine.</a:t>
            </a:r>
          </a:p>
        </p:txBody>
      </p:sp>
    </p:spTree>
    <p:extLst>
      <p:ext uri="{BB962C8B-B14F-4D97-AF65-F5344CB8AC3E}">
        <p14:creationId xmlns:p14="http://schemas.microsoft.com/office/powerpoint/2010/main" val="4235161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BC5A4-57AF-F0BF-0393-BD8A319140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6CA74E-5B95-8C77-595C-0D9E96AD5D2B}"/>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E324F1B-96F9-3120-77B5-5C4D9760B40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Literali întregi - Exemple</a:t>
            </a:r>
          </a:p>
          <a:p>
            <a:pPr marL="34290" indent="0" algn="just">
              <a:buNone/>
            </a:pPr>
            <a:r>
              <a:rPr lang="ro-RO" sz="2400" b="1" i="0" noProof="0" dirty="0">
                <a:solidFill>
                  <a:srgbClr val="F08D49"/>
                </a:solidFill>
                <a:effectLst/>
                <a:latin typeface="Courier New" panose="02070309020205020404" pitchFamily="49" charset="0"/>
              </a:rPr>
              <a:t>212</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Legal */</a:t>
            </a:r>
            <a:endParaRPr lang="ro-RO" sz="2400" b="1" noProof="0" dirty="0">
              <a:solidFill>
                <a:srgbClr val="CCCCCC"/>
              </a:solidFill>
              <a:latin typeface="Courier New" panose="02070309020205020404" pitchFamily="49" charset="0"/>
            </a:endParaRPr>
          </a:p>
          <a:p>
            <a:pPr marL="34290" indent="0" algn="just">
              <a:buNone/>
            </a:pPr>
            <a:r>
              <a:rPr lang="ro-RO" sz="2400" b="1" i="0" noProof="0" dirty="0">
                <a:solidFill>
                  <a:srgbClr val="F08D49"/>
                </a:solidFill>
                <a:effectLst/>
                <a:latin typeface="Courier New" panose="02070309020205020404" pitchFamily="49" charset="0"/>
              </a:rPr>
              <a:t>215u</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Legal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0xFeeL</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Legal */ </a:t>
            </a:r>
          </a:p>
          <a:p>
            <a:pPr marL="34290" indent="0" algn="just">
              <a:buNone/>
            </a:pPr>
            <a:r>
              <a:rPr lang="ro-RO" sz="2400" b="1" i="0" noProof="0" dirty="0">
                <a:solidFill>
                  <a:srgbClr val="F08D49"/>
                </a:solidFill>
                <a:effectLst/>
                <a:latin typeface="Courier New" panose="02070309020205020404" pitchFamily="49" charset="0"/>
              </a:rPr>
              <a:t>85</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decimal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0x4b</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hexadecimal</a:t>
            </a:r>
            <a:r>
              <a:rPr lang="ro-RO" sz="2400" b="1" i="0" noProof="0" dirty="0">
                <a:solidFill>
                  <a:srgbClr val="999999"/>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30</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int</a:t>
            </a:r>
            <a:r>
              <a:rPr lang="ro-RO" sz="2400" b="1" i="0" noProof="0" dirty="0">
                <a:solidFill>
                  <a:srgbClr val="9999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30u</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unsigned</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int</a:t>
            </a:r>
            <a:r>
              <a:rPr lang="ro-RO" sz="2400" b="1" i="0" noProof="0" dirty="0">
                <a:solidFill>
                  <a:srgbClr val="9999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30l</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long</a:t>
            </a:r>
            <a:r>
              <a:rPr lang="ro-RO" sz="2400" b="1" i="0" noProof="0" dirty="0">
                <a:solidFill>
                  <a:srgbClr val="9999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30ul</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unsigned</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long</a:t>
            </a:r>
            <a:r>
              <a:rPr lang="ro-RO" sz="2400" b="1" i="0" noProof="0" dirty="0">
                <a:solidFill>
                  <a:srgbClr val="999999"/>
                </a:solidFill>
                <a:effectLst/>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103996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AEAB-760E-CA78-3218-FB558FBD73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3B7F45-42DF-99EA-5755-B944F453E61A}"/>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1F215378-DA3E-5852-D196-73180A95976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Literali în virgula mobila</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Un literal in virgulă mobilă are o parte întreagă, o virgulă zecimală, o parte fracționară și o parte exponențială. Literalii in virgulă mobilă pot fi reprezentați fie sub formă zecimală, fie sub formă exponențială.</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498088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5734B-721E-35D8-8683-165AD3A330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71E7EE-1EAD-0445-6A14-16AF0E1C011D}"/>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33C721F1-635D-775D-7378-B7829B21645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Literali în virgula mobila – Exemple</a:t>
            </a:r>
          </a:p>
          <a:p>
            <a:pPr marL="34290" indent="0" algn="just">
              <a:buNone/>
            </a:pPr>
            <a:endParaRPr lang="ro-RO" sz="2800" noProof="0" dirty="0">
              <a:solidFill>
                <a:srgbClr val="00B0F0"/>
              </a:solidFill>
            </a:endParaRPr>
          </a:p>
          <a:p>
            <a:pPr marL="34290" indent="0" algn="just">
              <a:buNone/>
            </a:pPr>
            <a:r>
              <a:rPr lang="ro-RO" sz="2400" b="1" i="0" noProof="0" dirty="0">
                <a:solidFill>
                  <a:srgbClr val="F08D49"/>
                </a:solidFill>
                <a:effectLst/>
                <a:latin typeface="Courier New" panose="02070309020205020404" pitchFamily="49" charset="0"/>
              </a:rPr>
              <a:t>3.14159</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Legal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F08D49"/>
                </a:solidFill>
                <a:effectLst/>
                <a:latin typeface="Courier New" panose="02070309020205020404" pitchFamily="49" charset="0"/>
              </a:rPr>
              <a:t>314159E-5F</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Legal */</a:t>
            </a:r>
          </a:p>
          <a:p>
            <a:pPr marL="34290" indent="0" algn="just">
              <a:buNone/>
            </a:pPr>
            <a:r>
              <a:rPr lang="ro-RO" sz="2400" b="1" i="0" noProof="0" dirty="0">
                <a:solidFill>
                  <a:srgbClr val="CCCCCC"/>
                </a:solidFill>
                <a:effectLst/>
                <a:latin typeface="Courier New" panose="02070309020205020404" pitchFamily="49" charset="0"/>
              </a:rPr>
              <a:t>510E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Illegal</a:t>
            </a:r>
            <a:r>
              <a:rPr lang="ro-RO" sz="2400" b="1" i="0" noProof="0" dirty="0">
                <a:solidFill>
                  <a:srgbClr val="999999"/>
                </a:solidFill>
                <a:effectLst/>
                <a:latin typeface="Courier New" panose="02070309020205020404" pitchFamily="49" charset="0"/>
              </a:rPr>
              <a:t>: incomplete exponent */</a:t>
            </a:r>
          </a:p>
          <a:p>
            <a:pPr marL="34290" indent="0" algn="just">
              <a:buNone/>
            </a:pPr>
            <a:r>
              <a:rPr lang="ro-RO" sz="2400" b="1" i="0" noProof="0" dirty="0">
                <a:solidFill>
                  <a:srgbClr val="F08D49"/>
                </a:solidFill>
                <a:effectLst/>
                <a:latin typeface="Courier New" panose="02070309020205020404" pitchFamily="49" charset="0"/>
              </a:rPr>
              <a:t>210f</a:t>
            </a:r>
            <a:r>
              <a:rPr lang="ro-RO" sz="2400" b="1" i="0" noProof="0" dirty="0">
                <a:solidFill>
                  <a:srgbClr val="CCCCCC"/>
                </a:solidFill>
                <a:effectLst/>
                <a:latin typeface="Courier New" panose="02070309020205020404" pitchFamily="49" charset="0"/>
              </a:rPr>
              <a:t>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Illegal</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no</a:t>
            </a:r>
            <a:r>
              <a:rPr lang="ro-RO" sz="2400" b="1" i="0" noProof="0" dirty="0">
                <a:solidFill>
                  <a:srgbClr val="999999"/>
                </a:solidFill>
                <a:effectLst/>
                <a:latin typeface="Courier New" panose="02070309020205020404" pitchFamily="49" charset="0"/>
              </a:rPr>
              <a:t> decimal or exponent */</a:t>
            </a:r>
          </a:p>
          <a:p>
            <a:pPr marL="34290" indent="0" algn="just">
              <a:buNone/>
            </a:pPr>
            <a:r>
              <a:rPr lang="ro-RO" sz="2400" b="1" i="0" noProof="0" dirty="0">
                <a:solidFill>
                  <a:srgbClr val="CCCCCC"/>
                </a:solidFill>
                <a:effectLst/>
                <a:latin typeface="Courier New" panose="02070309020205020404" pitchFamily="49" charset="0"/>
              </a:rPr>
              <a:t>.e55 </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Illegal</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missing</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integer</a:t>
            </a:r>
            <a:r>
              <a:rPr lang="ro-RO" sz="2400" b="1" i="0" noProof="0" dirty="0">
                <a:solidFill>
                  <a:srgbClr val="999999"/>
                </a:solidFill>
                <a:effectLst/>
                <a:latin typeface="Courier New" panose="02070309020205020404" pitchFamily="49" charset="0"/>
              </a:rPr>
              <a:t> or </a:t>
            </a:r>
            <a:r>
              <a:rPr lang="ro-RO" sz="2400" b="1" i="0" noProof="0" dirty="0" err="1">
                <a:solidFill>
                  <a:srgbClr val="999999"/>
                </a:solidFill>
                <a:effectLst/>
                <a:latin typeface="Courier New" panose="02070309020205020404" pitchFamily="49" charset="0"/>
              </a:rPr>
              <a:t>fraction</a:t>
            </a:r>
            <a:r>
              <a:rPr lang="ro-RO" sz="2400" b="1" i="0" noProof="0" dirty="0">
                <a:solidFill>
                  <a:srgbClr val="999999"/>
                </a:solidFill>
                <a:effectLst/>
                <a:latin typeface="Courier New" panose="02070309020205020404" pitchFamily="49" charset="0"/>
              </a:rPr>
              <a:t> */</a:t>
            </a:r>
            <a:endParaRPr lang="ro-RO"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936738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775CD-9DC3-6FAA-2604-D0026C642C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17BD6F-F1C8-4055-96C4-D1D67635C9F2}"/>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08F928DC-D2B5-9818-F7B3-05A3288CF4B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Literali în virgula mobila</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Când reprezentați în formă zecimală, trebuie să includeți virgula, exponentul sau ambele; iar când reprezentați folosind forma exponențială, trebuie să includeți partea întreagă, partea fracționară sau ambele. Exponentul cu semn este introdus de e sau E.</a:t>
            </a:r>
          </a:p>
        </p:txBody>
      </p:sp>
    </p:spTree>
    <p:extLst>
      <p:ext uri="{BB962C8B-B14F-4D97-AF65-F5344CB8AC3E}">
        <p14:creationId xmlns:p14="http://schemas.microsoft.com/office/powerpoint/2010/main" val="1948809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6A97-F814-AC25-76AC-8C301B3064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8A5599-9C3D-C62A-C314-0CB60DB68756}"/>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62195A0C-D701-AEC9-A725-D0F6F877A23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Constante de tip caracter</a:t>
            </a:r>
          </a:p>
          <a:p>
            <a:pPr marL="34290" indent="0" algn="just">
              <a:buNone/>
            </a:pPr>
            <a:r>
              <a:rPr lang="ro-RO" sz="2800" noProof="0" dirty="0">
                <a:solidFill>
                  <a:srgbClr val="00B0F0"/>
                </a:solidFill>
              </a:rPr>
              <a:t>Literalii de tip caracter sunt incluși între ghilimele simple. De exemplu, „x” poate fi stocat într-o variabilă simplă de tip </a:t>
            </a:r>
            <a:r>
              <a:rPr lang="ro-RO" sz="2800" noProof="0" dirty="0" err="1">
                <a:solidFill>
                  <a:srgbClr val="00B0F0"/>
                </a:solidFill>
              </a:rPr>
              <a:t>char</a:t>
            </a:r>
            <a:r>
              <a:rPr lang="ro-RO" sz="2800" noProof="0" dirty="0">
                <a:solidFill>
                  <a:srgbClr val="00B0F0"/>
                </a:solidFill>
              </a:rPr>
              <a:t>. Un literal de caracter poate fi un caracter simplu (cum ar fi „x”), o secvență </a:t>
            </a:r>
            <a:r>
              <a:rPr lang="ro-RO" sz="2800" noProof="0" dirty="0" err="1">
                <a:solidFill>
                  <a:srgbClr val="00B0F0"/>
                </a:solidFill>
              </a:rPr>
              <a:t>escape</a:t>
            </a:r>
            <a:r>
              <a:rPr lang="ro-RO" sz="2800" noProof="0" dirty="0">
                <a:solidFill>
                  <a:srgbClr val="00B0F0"/>
                </a:solidFill>
              </a:rPr>
              <a:t> (cum ar fi „\t”) sau un caracter universal (cum ar fi „\u02C0”).</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49815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469D5-D531-FEF3-5564-7EC49CBA66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5E75DC-FD9F-63C6-36C2-07058716A733}"/>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691E3318-15D0-3DE2-E263-A7A0436EBFE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Constante de tip caracter</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Există anumite caractere în C# care sunt precedate de o bară oblică inversată. Acestea au o semnificație specială și sunt folosite pentru a reprezenta, de exemplu, </a:t>
            </a:r>
            <a:r>
              <a:rPr lang="ro-RO" sz="2800" noProof="0" dirty="0" err="1">
                <a:solidFill>
                  <a:srgbClr val="00B0F0"/>
                </a:solidFill>
              </a:rPr>
              <a:t>newline</a:t>
            </a:r>
            <a:r>
              <a:rPr lang="ro-RO" sz="2800" noProof="0" dirty="0">
                <a:solidFill>
                  <a:srgbClr val="00B0F0"/>
                </a:solidFill>
              </a:rPr>
              <a:t> (\n) sau tab (\t). Iată o listă cu unele dintre aceste coduri de secvență </a:t>
            </a:r>
            <a:r>
              <a:rPr lang="ro-RO" sz="2800" noProof="0" dirty="0" err="1">
                <a:solidFill>
                  <a:srgbClr val="00B0F0"/>
                </a:solidFill>
              </a:rPr>
              <a:t>escape</a:t>
            </a: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5616389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788B5-49E5-A673-27A5-05C453FC15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D9825C-BD53-2049-1534-18E505C55269}"/>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F8958788-64E9-1D11-4079-F2421C16724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	\ </a:t>
            </a:r>
            <a:r>
              <a:rPr lang="ro-RO" sz="2800" noProof="0" dirty="0" err="1">
                <a:solidFill>
                  <a:srgbClr val="00B0F0"/>
                </a:solidFill>
              </a:rPr>
              <a:t>character</a:t>
            </a:r>
            <a:r>
              <a:rPr lang="ro-RO" sz="2800" noProof="0" dirty="0">
                <a:solidFill>
                  <a:srgbClr val="00B0F0"/>
                </a:solidFill>
              </a:rPr>
              <a:t>		\'	' </a:t>
            </a:r>
            <a:r>
              <a:rPr lang="ro-RO" sz="2800" noProof="0" dirty="0" err="1">
                <a:solidFill>
                  <a:srgbClr val="00B0F0"/>
                </a:solidFill>
              </a:rPr>
              <a:t>character</a:t>
            </a:r>
            <a:endParaRPr lang="ro-RO" sz="2800" noProof="0" dirty="0">
              <a:solidFill>
                <a:srgbClr val="00B0F0"/>
              </a:solidFill>
            </a:endParaRPr>
          </a:p>
          <a:p>
            <a:pPr marL="34290" indent="0" algn="just">
              <a:buNone/>
            </a:pPr>
            <a:r>
              <a:rPr lang="ro-RO" sz="2800" noProof="0" dirty="0">
                <a:solidFill>
                  <a:srgbClr val="00B0F0"/>
                </a:solidFill>
              </a:rPr>
              <a:t>\"	" </a:t>
            </a:r>
            <a:r>
              <a:rPr lang="ro-RO" sz="2800" noProof="0" dirty="0" err="1">
                <a:solidFill>
                  <a:srgbClr val="00B0F0"/>
                </a:solidFill>
              </a:rPr>
              <a:t>character</a:t>
            </a:r>
            <a:r>
              <a:rPr lang="ro-RO" sz="2800" noProof="0" dirty="0">
                <a:solidFill>
                  <a:srgbClr val="00B0F0"/>
                </a:solidFill>
              </a:rPr>
              <a:t>		\?	? </a:t>
            </a:r>
            <a:r>
              <a:rPr lang="ro-RO" sz="2800" noProof="0" dirty="0" err="1">
                <a:solidFill>
                  <a:srgbClr val="00B0F0"/>
                </a:solidFill>
              </a:rPr>
              <a:t>character</a:t>
            </a:r>
            <a:endParaRPr lang="ro-RO" sz="2800" noProof="0" dirty="0">
              <a:solidFill>
                <a:srgbClr val="00B0F0"/>
              </a:solidFill>
            </a:endParaRPr>
          </a:p>
          <a:p>
            <a:pPr marL="34290" indent="0" algn="just">
              <a:buNone/>
            </a:pPr>
            <a:r>
              <a:rPr lang="ro-RO" sz="2800" noProof="0" dirty="0">
                <a:solidFill>
                  <a:srgbClr val="00B0F0"/>
                </a:solidFill>
              </a:rPr>
              <a:t>\a	Alert or </a:t>
            </a:r>
            <a:r>
              <a:rPr lang="ro-RO" sz="2800" noProof="0" dirty="0" err="1">
                <a:solidFill>
                  <a:srgbClr val="00B0F0"/>
                </a:solidFill>
              </a:rPr>
              <a:t>bell</a:t>
            </a:r>
            <a:r>
              <a:rPr lang="ro-RO" sz="2800" noProof="0" dirty="0">
                <a:solidFill>
                  <a:srgbClr val="00B0F0"/>
                </a:solidFill>
              </a:rPr>
              <a:t>		\b	</a:t>
            </a:r>
            <a:r>
              <a:rPr lang="ro-RO" sz="2800" noProof="0" dirty="0" err="1">
                <a:solidFill>
                  <a:srgbClr val="00B0F0"/>
                </a:solidFill>
              </a:rPr>
              <a:t>Backspace</a:t>
            </a:r>
            <a:endParaRPr lang="ro-RO" sz="2800" noProof="0" dirty="0">
              <a:solidFill>
                <a:srgbClr val="00B0F0"/>
              </a:solidFill>
            </a:endParaRPr>
          </a:p>
          <a:p>
            <a:pPr marL="34290" indent="0" algn="just">
              <a:buNone/>
            </a:pPr>
            <a:r>
              <a:rPr lang="ro-RO" sz="2800" noProof="0" dirty="0">
                <a:solidFill>
                  <a:srgbClr val="00B0F0"/>
                </a:solidFill>
              </a:rPr>
              <a:t>\f	</a:t>
            </a:r>
            <a:r>
              <a:rPr lang="ro-RO" sz="2800" noProof="0" dirty="0" err="1">
                <a:solidFill>
                  <a:srgbClr val="00B0F0"/>
                </a:solidFill>
              </a:rPr>
              <a:t>Form</a:t>
            </a:r>
            <a:r>
              <a:rPr lang="ro-RO" sz="2800" noProof="0" dirty="0">
                <a:solidFill>
                  <a:srgbClr val="00B0F0"/>
                </a:solidFill>
              </a:rPr>
              <a:t> </a:t>
            </a:r>
            <a:r>
              <a:rPr lang="ro-RO" sz="2800" noProof="0" dirty="0" err="1">
                <a:solidFill>
                  <a:srgbClr val="00B0F0"/>
                </a:solidFill>
              </a:rPr>
              <a:t>feed</a:t>
            </a:r>
            <a:r>
              <a:rPr lang="ro-RO" sz="2800" noProof="0" dirty="0">
                <a:solidFill>
                  <a:srgbClr val="00B0F0"/>
                </a:solidFill>
              </a:rPr>
              <a:t>		\n	</a:t>
            </a:r>
            <a:r>
              <a:rPr lang="ro-RO" sz="2800" noProof="0" dirty="0" err="1">
                <a:solidFill>
                  <a:srgbClr val="00B0F0"/>
                </a:solidFill>
              </a:rPr>
              <a:t>Newline</a:t>
            </a:r>
            <a:endParaRPr lang="ro-RO" sz="2800" noProof="0" dirty="0">
              <a:solidFill>
                <a:srgbClr val="00B0F0"/>
              </a:solidFill>
            </a:endParaRPr>
          </a:p>
          <a:p>
            <a:pPr marL="34290" indent="0" algn="just">
              <a:buNone/>
            </a:pPr>
            <a:r>
              <a:rPr lang="ro-RO" sz="2800" noProof="0" dirty="0">
                <a:solidFill>
                  <a:srgbClr val="00B0F0"/>
                </a:solidFill>
              </a:rPr>
              <a:t>\r	</a:t>
            </a:r>
            <a:r>
              <a:rPr lang="ro-RO" sz="2800" noProof="0" dirty="0" err="1">
                <a:solidFill>
                  <a:srgbClr val="00B0F0"/>
                </a:solidFill>
              </a:rPr>
              <a:t>Carriage</a:t>
            </a:r>
            <a:r>
              <a:rPr lang="ro-RO" sz="2800" noProof="0" dirty="0">
                <a:solidFill>
                  <a:srgbClr val="00B0F0"/>
                </a:solidFill>
              </a:rPr>
              <a:t> </a:t>
            </a:r>
            <a:r>
              <a:rPr lang="ro-RO" sz="2800" noProof="0" dirty="0" err="1">
                <a:solidFill>
                  <a:srgbClr val="00B0F0"/>
                </a:solidFill>
              </a:rPr>
              <a:t>return</a:t>
            </a:r>
            <a:r>
              <a:rPr lang="ro-RO" sz="2800" noProof="0" dirty="0">
                <a:solidFill>
                  <a:srgbClr val="00B0F0"/>
                </a:solidFill>
              </a:rPr>
              <a:t>	\t	</a:t>
            </a:r>
            <a:r>
              <a:rPr lang="ro-RO" sz="2800" noProof="0" dirty="0" err="1">
                <a:solidFill>
                  <a:srgbClr val="00B0F0"/>
                </a:solidFill>
              </a:rPr>
              <a:t>Horizontal</a:t>
            </a:r>
            <a:r>
              <a:rPr lang="ro-RO" sz="2800" noProof="0" dirty="0">
                <a:solidFill>
                  <a:srgbClr val="00B0F0"/>
                </a:solidFill>
              </a:rPr>
              <a:t> tab</a:t>
            </a:r>
          </a:p>
          <a:p>
            <a:pPr marL="34290" indent="0" algn="just">
              <a:buNone/>
            </a:pPr>
            <a:r>
              <a:rPr lang="ro-RO" sz="2800" noProof="0" dirty="0">
                <a:solidFill>
                  <a:srgbClr val="00B0F0"/>
                </a:solidFill>
              </a:rPr>
              <a:t>\v	Vertical tab</a:t>
            </a:r>
          </a:p>
          <a:p>
            <a:pPr marL="34290" indent="0" algn="just">
              <a:buNone/>
            </a:pPr>
            <a:r>
              <a:rPr lang="ro-RO" sz="2800" noProof="0" dirty="0">
                <a:solidFill>
                  <a:srgbClr val="00B0F0"/>
                </a:solidFill>
              </a:rPr>
              <a:t>\</a:t>
            </a:r>
            <a:r>
              <a:rPr lang="ro-RO" sz="2800" noProof="0" dirty="0" err="1">
                <a:solidFill>
                  <a:srgbClr val="00B0F0"/>
                </a:solidFill>
              </a:rPr>
              <a:t>xhh</a:t>
            </a:r>
            <a:r>
              <a:rPr lang="ro-RO" sz="2800" noProof="0" dirty="0">
                <a:solidFill>
                  <a:srgbClr val="00B0F0"/>
                </a:solidFill>
              </a:rPr>
              <a:t> . . .	</a:t>
            </a:r>
            <a:r>
              <a:rPr lang="ro-RO" sz="2800" noProof="0" dirty="0" err="1">
                <a:solidFill>
                  <a:srgbClr val="00B0F0"/>
                </a:solidFill>
              </a:rPr>
              <a:t>Hexadecimal</a:t>
            </a:r>
            <a:r>
              <a:rPr lang="ro-RO" sz="2800" noProof="0" dirty="0">
                <a:solidFill>
                  <a:srgbClr val="00B0F0"/>
                </a:solidFill>
              </a:rPr>
              <a:t> </a:t>
            </a:r>
            <a:r>
              <a:rPr lang="ro-RO" sz="2800" noProof="0" dirty="0" err="1">
                <a:solidFill>
                  <a:srgbClr val="00B0F0"/>
                </a:solidFill>
              </a:rPr>
              <a:t>number</a:t>
            </a:r>
            <a:r>
              <a:rPr lang="ro-RO" sz="2800" noProof="0" dirty="0">
                <a:solidFill>
                  <a:srgbClr val="00B0F0"/>
                </a:solidFill>
              </a:rPr>
              <a:t> of </a:t>
            </a:r>
            <a:r>
              <a:rPr lang="ro-RO" sz="2800" noProof="0" dirty="0" err="1">
                <a:solidFill>
                  <a:srgbClr val="00B0F0"/>
                </a:solidFill>
              </a:rPr>
              <a:t>one</a:t>
            </a:r>
            <a:r>
              <a:rPr lang="ro-RO" sz="2800" noProof="0" dirty="0">
                <a:solidFill>
                  <a:srgbClr val="00B0F0"/>
                </a:solidFill>
              </a:rPr>
              <a:t> or more </a:t>
            </a:r>
            <a:r>
              <a:rPr lang="ro-RO" sz="2800" noProof="0" dirty="0" err="1">
                <a:solidFill>
                  <a:srgbClr val="00B0F0"/>
                </a:solidFill>
              </a:rPr>
              <a:t>digits</a:t>
            </a:r>
            <a:endParaRPr lang="ro-RO" sz="2800" noProof="0" dirty="0">
              <a:solidFill>
                <a:srgbClr val="00B0F0"/>
              </a:solidFill>
            </a:endParaRPr>
          </a:p>
        </p:txBody>
      </p:sp>
    </p:spTree>
    <p:extLst>
      <p:ext uri="{BB962C8B-B14F-4D97-AF65-F5344CB8AC3E}">
        <p14:creationId xmlns:p14="http://schemas.microsoft.com/office/powerpoint/2010/main" val="24243095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FBF81-AC88-4B63-6594-0F367009C2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5B4910-13D2-F5BC-24CB-80DAF934333B}"/>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3FA26D44-DD6F-B2A1-0B2B-F16082C2347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Literali șiruri de caractere</a:t>
            </a:r>
          </a:p>
          <a:p>
            <a:pPr marL="34290" indent="0" algn="just">
              <a:buNone/>
            </a:pPr>
            <a:r>
              <a:rPr lang="ro-RO" sz="2800" noProof="0" dirty="0">
                <a:solidFill>
                  <a:srgbClr val="00B0F0"/>
                </a:solidFill>
              </a:rPr>
              <a:t>Literalii șiruri de caractere sau constantele sunt încadrate între ghilimele duble "" sau cu @"". Un șir conține caractere similare cu literalii de caractere: caractere simple, secvențe </a:t>
            </a:r>
            <a:r>
              <a:rPr lang="ro-RO" sz="2800" noProof="0" dirty="0" err="1">
                <a:solidFill>
                  <a:srgbClr val="00B0F0"/>
                </a:solidFill>
              </a:rPr>
              <a:t>escape</a:t>
            </a:r>
            <a:r>
              <a:rPr lang="ro-RO" sz="2800" noProof="0" dirty="0">
                <a:solidFill>
                  <a:srgbClr val="00B0F0"/>
                </a:solidFill>
              </a:rPr>
              <a:t> și caractere universale.</a:t>
            </a:r>
          </a:p>
          <a:p>
            <a:pPr marL="34290" indent="0" algn="just">
              <a:buNone/>
            </a:pPr>
            <a:r>
              <a:rPr lang="ro-RO" sz="2800" noProof="0" dirty="0">
                <a:solidFill>
                  <a:srgbClr val="00B0F0"/>
                </a:solidFill>
              </a:rPr>
              <a:t>Putem împărți o linie lungă în mai multe linii folosind literali de șir și separând părțile folosind spații albe.</a:t>
            </a:r>
          </a:p>
        </p:txBody>
      </p:sp>
    </p:spTree>
    <p:extLst>
      <p:ext uri="{BB962C8B-B14F-4D97-AF65-F5344CB8AC3E}">
        <p14:creationId xmlns:p14="http://schemas.microsoft.com/office/powerpoint/2010/main" val="3872402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8268C-10EE-043D-E4FB-7411ACA55F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E58217-F1E1-C010-FB86-76438F0F2403}"/>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C0FE3299-CC2D-6F11-307C-530A6D9A2E9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endParaRPr lang="ro-RO" sz="2800" noProof="0" dirty="0">
              <a:solidFill>
                <a:srgbClr val="00B0F0"/>
              </a:solidFill>
            </a:endParaRPr>
          </a:p>
          <a:p>
            <a:pPr marL="34290" indent="0" algn="just">
              <a:buNone/>
            </a:pP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hello</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dear</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hello</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err="1">
                <a:solidFill>
                  <a:srgbClr val="CCCCCC"/>
                </a:solidFill>
                <a:effectLst/>
                <a:latin typeface="Courier New" panose="02070309020205020404" pitchFamily="49" charset="0"/>
              </a:rPr>
              <a:t>dear</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hello</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"d"</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ear</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7EC699"/>
                </a:solidFill>
                <a:effectLst/>
                <a:latin typeface="Courier New" panose="02070309020205020404" pitchFamily="49" charset="0"/>
              </a:rPr>
              <a:t>@"hello </a:t>
            </a:r>
            <a:r>
              <a:rPr lang="ro-RO" sz="2400" b="1" i="0" noProof="0" dirty="0" err="1">
                <a:solidFill>
                  <a:srgbClr val="7EC699"/>
                </a:solidFill>
                <a:effectLst/>
                <a:latin typeface="Courier New" panose="02070309020205020404" pitchFamily="49" charset="0"/>
              </a:rPr>
              <a:t>dear</a:t>
            </a:r>
            <a:r>
              <a:rPr lang="ro-RO" sz="2400" b="1" i="0" noProof="0" dirty="0">
                <a:solidFill>
                  <a:srgbClr val="7EC699"/>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679513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8F769-7976-859F-0464-5CAC07031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493A80-45FA-6774-D186-1E8617052F65}"/>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061E3A5C-480A-4E1D-B4DF-4637B1437B2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Definirea constantelor</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Constantele sunt definite folosind cuvântul cheie </a:t>
            </a:r>
            <a:r>
              <a:rPr lang="ro-RO" sz="2800" noProof="0" dirty="0" err="1">
                <a:solidFill>
                  <a:srgbClr val="00B0F0"/>
                </a:solidFill>
              </a:rPr>
              <a:t>const.</a:t>
            </a:r>
            <a:r>
              <a:rPr lang="ro-RO" sz="2800" noProof="0" dirty="0">
                <a:solidFill>
                  <a:srgbClr val="00B0F0"/>
                </a:solidFill>
              </a:rPr>
              <a:t> Sintaxa pentru definirea unei constante este:</a:t>
            </a:r>
          </a:p>
          <a:p>
            <a:pPr marL="34290" indent="0" algn="just">
              <a:buNone/>
            </a:pP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const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data_type</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constant_name</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value</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723383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56632-2449-C8D7-D3E4-853ABCBEE5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6FA03F-0E65-6D34-529A-1FC259A74D58}"/>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7667571E-B492-307A-BAC6-547F65B088A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Accesarea constantelor</a:t>
            </a:r>
          </a:p>
          <a:p>
            <a:pPr marL="34290" indent="0" algn="just">
              <a:buNone/>
            </a:pPr>
            <a:r>
              <a:rPr lang="ro-RO" sz="2800" noProof="0" dirty="0">
                <a:solidFill>
                  <a:srgbClr val="00B0F0"/>
                </a:solidFill>
              </a:rPr>
              <a:t>Putem accesa o constantă folosind numele acesteia, atâta timp cât se află în domeniul de aplicare.</a:t>
            </a:r>
          </a:p>
          <a:p>
            <a:pPr marL="34290" indent="0" algn="just">
              <a:buNone/>
            </a:pPr>
            <a:r>
              <a:rPr lang="ro-RO" sz="2800" noProof="0" dirty="0">
                <a:solidFill>
                  <a:srgbClr val="00B0F0"/>
                </a:solidFill>
              </a:rPr>
              <a:t>Mai jos este sintaxa pentru accesarea constantelor în C#:</a:t>
            </a:r>
          </a:p>
          <a:p>
            <a:pPr marL="34290" indent="0" algn="just">
              <a:buNone/>
            </a:pPr>
            <a:r>
              <a:rPr lang="ro-RO" sz="2400" b="1" i="0" noProof="0" dirty="0">
                <a:solidFill>
                  <a:srgbClr val="999999"/>
                </a:solidFill>
                <a:effectLst/>
                <a:latin typeface="Courier New" panose="02070309020205020404" pitchFamily="49" charset="0"/>
              </a:rPr>
              <a:t>//</a:t>
            </a:r>
            <a:r>
              <a:rPr lang="ro-RO" sz="2400" b="1" i="0" noProof="0" dirty="0" err="1">
                <a:solidFill>
                  <a:srgbClr val="999999"/>
                </a:solidFill>
                <a:effectLst/>
                <a:latin typeface="Courier New" panose="02070309020205020404" pitchFamily="49" charset="0"/>
              </a:rPr>
              <a:t>When</a:t>
            </a:r>
            <a:r>
              <a:rPr lang="ro-RO" sz="2400" b="1" i="0" noProof="0" dirty="0">
                <a:solidFill>
                  <a:srgbClr val="999999"/>
                </a:solidFill>
                <a:effectLst/>
                <a:latin typeface="Courier New" panose="02070309020205020404" pitchFamily="49" charset="0"/>
              </a:rPr>
              <a:t> constant </a:t>
            </a:r>
            <a:r>
              <a:rPr lang="ro-RO" sz="2400" b="1" i="0" noProof="0" dirty="0" err="1">
                <a:solidFill>
                  <a:srgbClr val="999999"/>
                </a:solidFill>
                <a:effectLst/>
                <a:latin typeface="Courier New" panose="02070309020205020404" pitchFamily="49" charset="0"/>
              </a:rPr>
              <a:t>is</a:t>
            </a:r>
            <a:r>
              <a:rPr lang="ro-RO" sz="2400" b="1" i="0" noProof="0" dirty="0">
                <a:solidFill>
                  <a:srgbClr val="999999"/>
                </a:solidFill>
                <a:effectLst/>
                <a:latin typeface="Courier New" panose="02070309020205020404" pitchFamily="49" charset="0"/>
              </a:rPr>
              <a:t> in local </a:t>
            </a:r>
            <a:r>
              <a:rPr lang="ro-RO" sz="2400" b="1" i="0" noProof="0" dirty="0" err="1">
                <a:solidFill>
                  <a:srgbClr val="999999"/>
                </a:solidFill>
                <a:effectLst/>
                <a:latin typeface="Courier New" panose="02070309020205020404" pitchFamily="49" charset="0"/>
              </a:rPr>
              <a:t>scope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constant_name</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999999"/>
                </a:solidFill>
                <a:effectLst/>
                <a:latin typeface="Courier New" panose="02070309020205020404" pitchFamily="49" charset="0"/>
              </a:rPr>
              <a:t>//</a:t>
            </a:r>
            <a:r>
              <a:rPr lang="ro-RO" sz="2400" b="1" i="0" noProof="0" dirty="0" err="1">
                <a:solidFill>
                  <a:srgbClr val="999999"/>
                </a:solidFill>
                <a:effectLst/>
                <a:latin typeface="Courier New" panose="02070309020205020404" pitchFamily="49" charset="0"/>
              </a:rPr>
              <a:t>When</a:t>
            </a:r>
            <a:r>
              <a:rPr lang="ro-RO" sz="2400" b="1" i="0" noProof="0" dirty="0">
                <a:solidFill>
                  <a:srgbClr val="999999"/>
                </a:solidFill>
                <a:effectLst/>
                <a:latin typeface="Courier New" panose="02070309020205020404" pitchFamily="49" charset="0"/>
              </a:rPr>
              <a:t> constant </a:t>
            </a:r>
            <a:r>
              <a:rPr lang="ro-RO" sz="2400" b="1" i="0" noProof="0" dirty="0" err="1">
                <a:solidFill>
                  <a:srgbClr val="999999"/>
                </a:solidFill>
                <a:effectLst/>
                <a:latin typeface="Courier New" panose="02070309020205020404" pitchFamily="49" charset="0"/>
              </a:rPr>
              <a:t>is</a:t>
            </a:r>
            <a:r>
              <a:rPr lang="ro-RO" sz="2400" b="1" i="0" noProof="0" dirty="0">
                <a:solidFill>
                  <a:srgbClr val="999999"/>
                </a:solidFill>
                <a:effectLst/>
                <a:latin typeface="Courier New" panose="02070309020205020404" pitchFamily="49" charset="0"/>
              </a:rPr>
              <a:t> in a </a:t>
            </a:r>
            <a:r>
              <a:rPr lang="ro-RO" sz="2400" b="1" i="0" noProof="0" dirty="0" err="1">
                <a:solidFill>
                  <a:srgbClr val="999999"/>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class_name.constant_name</a:t>
            </a:r>
            <a:endParaRPr lang="ro-RO" sz="2400" b="1" i="0" noProof="0" dirty="0">
              <a:solidFill>
                <a:srgbClr val="CCCCCC"/>
              </a:solidFill>
              <a:effectLst/>
              <a:latin typeface="Courier New" panose="02070309020205020404" pitchFamily="49" charset="0"/>
            </a:endParaRPr>
          </a:p>
          <a:p>
            <a:pPr marL="34290" indent="0" algn="just">
              <a:buNone/>
            </a:pPr>
            <a:endParaRPr lang="ro-RO" sz="2400" b="1" noProof="0" dirty="0">
              <a:solidFill>
                <a:srgbClr val="00B0F0"/>
              </a:solidFill>
            </a:endParaRPr>
          </a:p>
        </p:txBody>
      </p:sp>
    </p:spTree>
    <p:extLst>
      <p:ext uri="{BB962C8B-B14F-4D97-AF65-F5344CB8AC3E}">
        <p14:creationId xmlns:p14="http://schemas.microsoft.com/office/powerpoint/2010/main" val="1848772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8CB3-54C3-93D5-331A-BCA84D6E20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60086B-236F-0861-DD8B-E0B658607EDD}"/>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C8C70C07-19D9-9A7F-3D72-F5C64CCB33B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p>
          <a:p>
            <a:pPr marL="34290" indent="0" algn="just">
              <a:buNone/>
            </a:pPr>
            <a:r>
              <a:rPr lang="ro-RO" sz="2800" noProof="0" dirty="0">
                <a:solidFill>
                  <a:srgbClr val="00B0F0"/>
                </a:solidFill>
              </a:rPr>
              <a:t>Constante într-o clasă</a:t>
            </a:r>
          </a:p>
          <a:p>
            <a:pPr marL="34290" indent="0" algn="just">
              <a:buNone/>
            </a:pPr>
            <a:r>
              <a:rPr lang="ro-RO" sz="2800" noProof="0" dirty="0">
                <a:solidFill>
                  <a:srgbClr val="00B0F0"/>
                </a:solidFill>
              </a:rPr>
              <a:t>Constantele dintr-o clasă sunt declarate în interiorul unei clase folosind cuvântul cheie </a:t>
            </a:r>
            <a:r>
              <a:rPr lang="ro-RO" sz="2800" noProof="0" dirty="0" err="1">
                <a:solidFill>
                  <a:srgbClr val="00B0F0"/>
                </a:solidFill>
              </a:rPr>
              <a:t>const.</a:t>
            </a:r>
            <a:r>
              <a:rPr lang="ro-RO" sz="2800" noProof="0" dirty="0">
                <a:solidFill>
                  <a:srgbClr val="00B0F0"/>
                </a:solidFill>
              </a:rPr>
              <a:t> Sunt implicit statice, ceea ce înseamnă că aparțin clasei și nu unei instanțe.</a:t>
            </a:r>
          </a:p>
          <a:p>
            <a:pPr marL="34290" indent="0" algn="just">
              <a:buNone/>
            </a:pPr>
            <a:r>
              <a:rPr lang="ro-RO" sz="2800" noProof="0" dirty="0">
                <a:solidFill>
                  <a:srgbClr val="00B0F0"/>
                </a:solidFill>
              </a:rPr>
              <a:t>Constantele de clasă pot fi accesate folosind numele clasei.</a:t>
            </a:r>
            <a:endParaRPr lang="en-US" sz="2800" noProof="0" dirty="0">
              <a:solidFill>
                <a:srgbClr val="00B0F0"/>
              </a:solidFill>
            </a:endParaRPr>
          </a:p>
          <a:p>
            <a:pPr marL="34290" indent="0" algn="just">
              <a:buNone/>
            </a:pPr>
            <a:r>
              <a:rPr lang="en-US" sz="2800" dirty="0" err="1">
                <a:solidFill>
                  <a:srgbClr val="00B0F0"/>
                </a:solidFill>
              </a:rPr>
              <a:t>Sintaxa</a:t>
            </a:r>
            <a:r>
              <a:rPr lang="en-US" sz="2800" dirty="0">
                <a:solidFill>
                  <a:srgbClr val="00B0F0"/>
                </a:solidFill>
              </a:rPr>
              <a:t>:</a:t>
            </a:r>
          </a:p>
          <a:p>
            <a:pPr marL="34290" indent="0" algn="just">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ClassName</a:t>
            </a:r>
            <a:r>
              <a:rPr lang="en-US" sz="2400" b="1" i="0" dirty="0">
                <a:solidFill>
                  <a:srgbClr val="CCCCCC"/>
                </a:solidFill>
                <a:effectLst/>
                <a:latin typeface="Courier New" panose="02070309020205020404" pitchFamily="49" charset="0"/>
              </a:rPr>
              <a:t> {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public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const</a:t>
            </a:r>
            <a:r>
              <a:rPr lang="en-US" sz="2400" b="1" i="0" dirty="0">
                <a:solidFill>
                  <a:srgbClr val="CCCCCC"/>
                </a:solidFill>
                <a:effectLst/>
                <a:latin typeface="Courier New" panose="02070309020205020404" pitchFamily="49" charset="0"/>
              </a:rPr>
              <a:t> datatype </a:t>
            </a:r>
            <a:r>
              <a:rPr lang="en-US" sz="2400" b="1" i="0" dirty="0" err="1">
                <a:solidFill>
                  <a:srgbClr val="CCCCCC"/>
                </a:solidFill>
                <a:effectLst/>
                <a:latin typeface="Courier New" panose="02070309020205020404" pitchFamily="49" charset="0"/>
              </a:rPr>
              <a:t>ConstantName</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value</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625144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6139-5C97-C2D5-380F-2829C48B33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771682-2EBF-B646-99EC-E76D80970AAD}"/>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6B6B58DD-06A7-2AF7-84A3-06DDE9432F9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endParaRPr lang="en-US" sz="2800" noProof="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System; </a:t>
            </a:r>
          </a:p>
          <a:p>
            <a:pPr marL="34290" indent="0" algn="just">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MathConstants</a:t>
            </a:r>
            <a:r>
              <a:rPr lang="en-US" sz="2400" b="1" i="0" dirty="0">
                <a:solidFill>
                  <a:srgbClr val="CCCCCC"/>
                </a:solidFill>
                <a:effectLst/>
                <a:latin typeface="Courier New" panose="02070309020205020404" pitchFamily="49" charset="0"/>
              </a:rPr>
              <a:t> { </a:t>
            </a:r>
          </a:p>
          <a:p>
            <a:pPr marL="34290" indent="0" algn="just">
              <a:buNone/>
            </a:pP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public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const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double</a:t>
            </a:r>
            <a:r>
              <a:rPr lang="en-US" sz="2400" b="1" i="0" dirty="0">
                <a:solidFill>
                  <a:srgbClr val="CCCCCC"/>
                </a:solidFill>
                <a:effectLst/>
                <a:latin typeface="Courier New" panose="02070309020205020404" pitchFamily="49" charset="0"/>
              </a:rPr>
              <a:t> Pi</a:t>
            </a:r>
            <a:r>
              <a:rPr lang="en-US" sz="2400" b="1" i="0" dirty="0">
                <a:solidFill>
                  <a:srgbClr val="67CD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3.14159</a:t>
            </a:r>
            <a:r>
              <a:rPr lang="en-US" sz="2400" b="1" i="0" dirty="0">
                <a:solidFill>
                  <a:srgbClr val="CCCCCC"/>
                </a:solidFill>
                <a:effectLst/>
                <a:latin typeface="Courier New" panose="02070309020205020404" pitchFamily="49" charset="0"/>
              </a:rPr>
              <a:t>;</a:t>
            </a:r>
          </a:p>
          <a:p>
            <a:pPr marL="34290" indent="0" algn="just">
              <a:buNone/>
            </a:pP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public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const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SpeedOfLight</a:t>
            </a:r>
            <a:r>
              <a:rPr lang="en-US" sz="2400" b="1" i="0" dirty="0">
                <a:solidFill>
                  <a:srgbClr val="67CD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299792458</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Program { </a:t>
            </a:r>
          </a:p>
          <a:p>
            <a:pPr marL="34290" indent="0" algn="just">
              <a:buNone/>
            </a:pP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static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void</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Main</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"Value of Pi: "</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MathConstants.Pi</a:t>
            </a:r>
            <a:r>
              <a:rPr lang="en-US" sz="2400" b="1" i="0" dirty="0">
                <a:solidFill>
                  <a:srgbClr val="CCCCCC"/>
                </a:solidFill>
                <a:effectLst/>
                <a:latin typeface="Courier New" panose="02070309020205020404" pitchFamily="49" charset="0"/>
              </a:rPr>
              <a:t>);</a:t>
            </a:r>
          </a:p>
          <a:p>
            <a:pPr marL="34290" indent="0" algn="just">
              <a:buNone/>
            </a:pPr>
            <a:r>
              <a:rPr lang="en-US" sz="2400" b="1" dirty="0">
                <a:solidFill>
                  <a:srgbClr val="CCCCCC"/>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"Speed of Light: "</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MathConstants.SpeedOfLight</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24978747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9C611-5670-DE03-DA91-4A0069D19B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9A7A1-BA52-5991-B171-C568B1E6E781}"/>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86192D16-F53E-4BBD-BC88-9B06FEC0C1E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endParaRPr lang="en-US" sz="2800" noProof="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System;</a:t>
            </a:r>
          </a:p>
          <a:p>
            <a:pPr marL="34290" indent="0" algn="just">
              <a:buNone/>
            </a:pPr>
            <a:r>
              <a:rPr lang="en-US" sz="2400" b="1" i="0" dirty="0">
                <a:solidFill>
                  <a:srgbClr val="CC99CD"/>
                </a:solidFill>
                <a:effectLst/>
                <a:latin typeface="Courier New" panose="02070309020205020404" pitchFamily="49" charset="0"/>
              </a:rPr>
              <a:t>namespace</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DeclaringConstants</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Program {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static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void</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Main</a:t>
            </a:r>
            <a:r>
              <a:rPr lang="en-US" sz="2400" b="1" i="0" dirty="0">
                <a:solidFill>
                  <a:srgbClr val="CCCCCC"/>
                </a:solidFill>
                <a:effectLst/>
                <a:latin typeface="Courier New" panose="02070309020205020404" pitchFamily="49" charset="0"/>
              </a:rPr>
              <a:t>(</a:t>
            </a:r>
            <a:r>
              <a:rPr lang="en-US" sz="2400" b="1" i="0" dirty="0">
                <a:solidFill>
                  <a:srgbClr val="CC99CD"/>
                </a:solidFill>
                <a:effectLst/>
                <a:latin typeface="Courier New" panose="02070309020205020404" pitchFamily="49" charset="0"/>
              </a:rPr>
              <a:t>string</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args</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const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double</a:t>
            </a:r>
            <a:r>
              <a:rPr lang="en-US" sz="2400" b="1" i="0" dirty="0">
                <a:solidFill>
                  <a:srgbClr val="CCCCCC"/>
                </a:solidFill>
                <a:effectLst/>
                <a:latin typeface="Courier New" panose="02070309020205020404" pitchFamily="49" charset="0"/>
              </a:rPr>
              <a:t> pi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3.14159</a:t>
            </a:r>
            <a:r>
              <a:rPr lang="en-US" sz="2400" b="1" i="0" dirty="0">
                <a:solidFill>
                  <a:srgbClr val="CCCCCC"/>
                </a:solidFill>
                <a:effectLst/>
                <a:latin typeface="Courier New" panose="02070309020205020404" pitchFamily="49" charset="0"/>
              </a:rPr>
              <a:t>;</a:t>
            </a:r>
          </a:p>
          <a:p>
            <a:pPr marL="34290" indent="0" algn="just">
              <a:buNone/>
            </a:pPr>
            <a:r>
              <a:rPr lang="en-US" sz="2400" b="1" dirty="0">
                <a:solidFill>
                  <a:srgbClr val="999999"/>
                </a:solidFill>
                <a:latin typeface="Courier New" panose="02070309020205020404" pitchFamily="49" charset="0"/>
              </a:rPr>
              <a:t>	</a:t>
            </a:r>
            <a:r>
              <a:rPr lang="en-US" sz="2400" b="1" i="0" dirty="0">
                <a:solidFill>
                  <a:srgbClr val="CC99CD"/>
                </a:solidFill>
                <a:effectLst/>
                <a:latin typeface="Courier New" panose="02070309020205020404" pitchFamily="49" charset="0"/>
              </a:rPr>
              <a:t>double</a:t>
            </a:r>
            <a:r>
              <a:rPr lang="en-US" sz="2400" b="1" i="0" dirty="0">
                <a:solidFill>
                  <a:srgbClr val="CCCCCC"/>
                </a:solidFill>
                <a:effectLst/>
                <a:latin typeface="Courier New" panose="02070309020205020404" pitchFamily="49" charset="0"/>
              </a:rPr>
              <a:t> r; </a:t>
            </a:r>
          </a:p>
          <a:p>
            <a:pPr marL="34290" indent="0" algn="just">
              <a:buNone/>
            </a:pPr>
            <a:r>
              <a:rPr lang="en-US" sz="2400" b="1" dirty="0">
                <a:solidFill>
                  <a:srgbClr val="CCCCCC"/>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"Enter Radius: "</a:t>
            </a:r>
            <a:r>
              <a:rPr lang="en-US" sz="2400" b="1" i="0" dirty="0">
                <a:solidFill>
                  <a:srgbClr val="CCCCCC"/>
                </a:solidFill>
                <a:effectLst/>
                <a:latin typeface="Courier New" panose="02070309020205020404" pitchFamily="49" charset="0"/>
              </a:rPr>
              <a:t>); 		r</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Convert.</a:t>
            </a:r>
            <a:r>
              <a:rPr lang="en-US" sz="2400" b="1" i="0" dirty="0" err="1">
                <a:solidFill>
                  <a:srgbClr val="F08D49"/>
                </a:solidFill>
                <a:effectLst/>
                <a:latin typeface="Courier New" panose="02070309020205020404" pitchFamily="49" charset="0"/>
              </a:rPr>
              <a:t>ToDouble</a:t>
            </a:r>
            <a:r>
              <a:rPr lang="en-US" sz="2400" b="1" i="0" dirty="0">
                <a:solidFill>
                  <a:srgbClr val="CCCCCC"/>
                </a:solidFill>
                <a:effectLst/>
                <a:latin typeface="Courier New" panose="02070309020205020404" pitchFamily="49" charset="0"/>
              </a:rPr>
              <a:t>(</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ReadLine</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double</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areaCircle</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pi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r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r;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"Radius: {0}, Area: 	{1}"</a:t>
            </a:r>
            <a:r>
              <a:rPr lang="en-US" sz="2400" b="1" i="0" dirty="0">
                <a:solidFill>
                  <a:srgbClr val="CCCCCC"/>
                </a:solidFill>
                <a:effectLst/>
                <a:latin typeface="Courier New" panose="02070309020205020404" pitchFamily="49" charset="0"/>
              </a:rPr>
              <a:t>, r, </a:t>
            </a:r>
            <a:r>
              <a:rPr lang="en-US" sz="2400" b="1" i="0" dirty="0" err="1">
                <a:solidFill>
                  <a:srgbClr val="CCCCCC"/>
                </a:solidFill>
                <a:effectLst/>
                <a:latin typeface="Courier New" panose="02070309020205020404" pitchFamily="49" charset="0"/>
              </a:rPr>
              <a:t>areaCircle</a:t>
            </a: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  }</a:t>
            </a:r>
          </a:p>
          <a:p>
            <a:pPr marL="34290" indent="0" algn="just">
              <a:buNone/>
            </a:pPr>
            <a:r>
              <a:rPr lang="en-US" sz="2400" b="1" i="0" dirty="0">
                <a:solidFill>
                  <a:srgbClr val="CCCCCC"/>
                </a:solidFill>
                <a:effectLst/>
                <a:latin typeface="Courier New" panose="02070309020205020404" pitchFamily="49" charset="0"/>
              </a:rPr>
              <a:t>}</a:t>
            </a:r>
          </a:p>
          <a:p>
            <a:pPr marL="34290" indent="0" algn="just">
              <a:buNone/>
            </a:pPr>
            <a:r>
              <a:rPr lang="en-US" sz="2400" b="1" i="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318120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F07B6-AF72-3599-1EED-F24ED61F8C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43B6FF-B238-554A-68C7-0F04C4936275}"/>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31D52246-9E43-11BD-6A86-86AED10F002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endParaRPr lang="en-US" sz="2800" noProof="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System;</a:t>
            </a:r>
          </a:p>
          <a:p>
            <a:pPr marL="34290" indent="0" algn="just">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Example {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static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void</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Main</a:t>
            </a:r>
            <a:r>
              <a:rPr lang="en-US" sz="2400" b="1" i="0" dirty="0">
                <a:solidFill>
                  <a:srgbClr val="CCCCCC"/>
                </a:solidFill>
                <a:effectLst/>
                <a:latin typeface="Courier New" panose="02070309020205020404" pitchFamily="49" charset="0"/>
              </a:rPr>
              <a:t>() { </a:t>
            </a:r>
            <a:endParaRPr lang="en-US" sz="2400" b="1" i="0" dirty="0">
              <a:solidFill>
                <a:srgbClr val="999999"/>
              </a:solidFill>
              <a:effectLst/>
              <a:latin typeface="Courier New" panose="02070309020205020404" pitchFamily="49" charset="0"/>
            </a:endParaRPr>
          </a:p>
          <a:p>
            <a:pPr marL="34290" indent="0" algn="just">
              <a:buNone/>
            </a:pPr>
            <a:r>
              <a:rPr lang="en-US" sz="2400" b="1" dirty="0">
                <a:solidFill>
                  <a:srgbClr val="999999"/>
                </a:solidFill>
                <a:latin typeface="Courier New" panose="02070309020205020404" pitchFamily="49" charset="0"/>
              </a:rPr>
              <a:t>	</a:t>
            </a:r>
            <a:r>
              <a:rPr lang="en-US" sz="2400" b="1" i="0" dirty="0">
                <a:solidFill>
                  <a:srgbClr val="CC99CD"/>
                </a:solidFill>
                <a:effectLst/>
                <a:latin typeface="Courier New" panose="02070309020205020404" pitchFamily="49" charset="0"/>
              </a:rPr>
              <a:t>string</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regularString</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7EC699"/>
                </a:solidFill>
                <a:effectLst/>
                <a:latin typeface="Courier New" panose="02070309020205020404" pitchFamily="49" charset="0"/>
              </a:rPr>
              <a:t>"Hello, World!"</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string</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verbatimString</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7EC699"/>
                </a:solidFill>
                <a:effectLst/>
                <a:latin typeface="Courier New" panose="02070309020205020404" pitchFamily="49" charset="0"/>
              </a:rPr>
              <a:t>@"C:\Users\Admin\Documents\"; 	</a:t>
            </a:r>
            <a:r>
              <a:rPr lang="en-US" sz="2400" b="1" i="0" dirty="0" err="1">
                <a:solidFill>
                  <a:srgbClr val="7EC699"/>
                </a:solidFill>
                <a:effectLst/>
                <a:latin typeface="Courier New" panose="02070309020205020404" pitchFamily="49" charset="0"/>
              </a:rPr>
              <a:t>Console.WriteLine</a:t>
            </a:r>
            <a:r>
              <a:rPr lang="en-US" sz="2400" b="1" i="0" dirty="0">
                <a:solidFill>
                  <a:srgbClr val="7EC699"/>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Regular String 	Literal: "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regularString</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"Verbatim String 	Literal: "</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verbatimString</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endParaRPr lang="en-US" sz="2400" b="1" i="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3375095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6F0C-E624-E1EA-BE1F-7335E53E8A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45D475-8C03-6F0F-C296-E9E728135FA4}"/>
              </a:ext>
            </a:extLst>
          </p:cNvPr>
          <p:cNvSpPr>
            <a:spLocks noGrp="1"/>
          </p:cNvSpPr>
          <p:nvPr>
            <p:ph type="title"/>
          </p:nvPr>
        </p:nvSpPr>
        <p:spPr>
          <a:xfrm>
            <a:off x="463925" y="582705"/>
            <a:ext cx="7819465" cy="504265"/>
          </a:xfrm>
        </p:spPr>
        <p:txBody>
          <a:bodyPr>
            <a:noAutofit/>
          </a:bodyPr>
          <a:lstStyle/>
          <a:p>
            <a:r>
              <a:rPr lang="ro-RO" sz="3200" noProof="0" dirty="0"/>
              <a:t>C# - Cursul 3</a:t>
            </a:r>
          </a:p>
        </p:txBody>
      </p:sp>
      <p:sp>
        <p:nvSpPr>
          <p:cNvPr id="5" name="Content Placeholder 4">
            <a:extLst>
              <a:ext uri="{FF2B5EF4-FFF2-40B4-BE49-F238E27FC236}">
                <a16:creationId xmlns:a16="http://schemas.microsoft.com/office/drawing/2014/main" id="{C032C46C-796E-F37C-FFB8-3B765D53485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Constante si literali in C#</a:t>
            </a:r>
            <a:endParaRPr lang="en-US" sz="2800" noProof="0" dirty="0">
              <a:solidFill>
                <a:srgbClr val="00B0F0"/>
              </a:solidFill>
            </a:endParaRPr>
          </a:p>
          <a:p>
            <a:pPr marL="34290" indent="0" algn="just">
              <a:buNone/>
            </a:pPr>
            <a:r>
              <a:rPr lang="en-US" sz="2400" b="1" dirty="0">
                <a:solidFill>
                  <a:srgbClr val="CCCCCC"/>
                </a:solidFill>
                <a:latin typeface="Courier New" panose="02070309020205020404" pitchFamily="49" charset="0"/>
              </a:rPr>
              <a:t>	</a:t>
            </a:r>
            <a:r>
              <a:rPr lang="en-US" sz="2400" b="1" i="0" dirty="0">
                <a:solidFill>
                  <a:srgbClr val="999999"/>
                </a:solidFill>
                <a:effectLst/>
                <a:latin typeface="Courier New" panose="02070309020205020404" pitchFamily="49" charset="0"/>
              </a:rPr>
              <a:t>// Floating Point Literals</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float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floatLiteral</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3.14F</a:t>
            </a:r>
            <a:r>
              <a:rPr lang="en-US" sz="2400" b="1" i="0" dirty="0">
                <a:solidFill>
                  <a:srgbClr val="CCCCCC"/>
                </a:solidFill>
                <a:effectLst/>
                <a:latin typeface="Courier New" panose="02070309020205020404" pitchFamily="49" charset="0"/>
              </a:rPr>
              <a:t>; </a:t>
            </a:r>
            <a:r>
              <a:rPr lang="en-US" sz="2400" b="1" i="0" dirty="0">
                <a:solidFill>
                  <a:srgbClr val="999999"/>
                </a:solidFill>
                <a:effectLst/>
                <a:latin typeface="Courier New" panose="02070309020205020404" pitchFamily="49" charset="0"/>
              </a:rPr>
              <a:t>// Default 	floating-point type</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double</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doubleLiteral</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3.14159265359</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999999"/>
                </a:solidFill>
                <a:effectLst/>
                <a:latin typeface="Courier New" panose="02070309020205020404" pitchFamily="49" charset="0"/>
              </a:rPr>
              <a:t>// Requires 'M' suffix for high 	precision</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decimal</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decimalLiteral</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3.14159265359M</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a:t>
            </a:r>
            <a:r>
              <a:rPr lang="en-US" sz="2400" b="1" i="0" dirty="0" err="1">
                <a:solidFill>
                  <a:srgbClr val="7EC699"/>
                </a:solidFill>
                <a:effectLst/>
                <a:latin typeface="Courier New" panose="02070309020205020404" pitchFamily="49" charset="0"/>
              </a:rPr>
              <a:t>nFloating</a:t>
            </a:r>
            <a:r>
              <a:rPr lang="en-US" sz="2400" b="1" i="0" dirty="0">
                <a:solidFill>
                  <a:srgbClr val="7EC699"/>
                </a:solidFill>
                <a:effectLst/>
                <a:latin typeface="Courier New" panose="02070309020205020404" pitchFamily="49" charset="0"/>
              </a:rPr>
              <a:t> Point 	Literals:"</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"Float Literal: "</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floatLiteral</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"Double 	Literal: "</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doubleLiteral</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a:t>
            </a:r>
            <a:r>
              <a:rPr lang="en-US" sz="2400" b="1" i="0" dirty="0">
                <a:solidFill>
                  <a:srgbClr val="7EC699"/>
                </a:solidFill>
                <a:effectLst/>
                <a:latin typeface="Courier New" panose="02070309020205020404" pitchFamily="49" charset="0"/>
              </a:rPr>
              <a:t>"Decimal Literal: "</a:t>
            </a:r>
            <a:r>
              <a:rPr lang="en-US" sz="2400" b="1" i="0" dirty="0">
                <a:solidFill>
                  <a:srgbClr val="CCCCCC"/>
                </a:solidFill>
                <a:effectLst/>
                <a:latin typeface="Courier New" panose="02070309020205020404" pitchFamily="49" charset="0"/>
              </a:rPr>
              <a:t>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decimalLiteral</a:t>
            </a:r>
            <a:r>
              <a:rPr lang="en-US" sz="2400" b="1" i="0" dirty="0">
                <a:solidFill>
                  <a:srgbClr val="CCCCCC"/>
                </a:solidFill>
                <a:effectLst/>
                <a:latin typeface="Courier New" panose="02070309020205020404" pitchFamily="49" charset="0"/>
              </a:rPr>
              <a:t>); </a:t>
            </a:r>
          </a:p>
          <a:p>
            <a:pPr marL="34290" indent="0" algn="just">
              <a:buNone/>
            </a:pPr>
            <a:r>
              <a:rPr lang="en-US"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a:t>
            </a:r>
          </a:p>
          <a:p>
            <a:pPr marL="34290" indent="0" algn="just">
              <a:buNone/>
            </a:pPr>
            <a:r>
              <a:rPr lang="en-US" sz="2400" b="1" dirty="0">
                <a:solidFill>
                  <a:srgbClr val="CCCCCC"/>
                </a:solidFill>
                <a:latin typeface="Courier New" panose="02070309020205020404" pitchFamily="49" charset="0"/>
              </a:rPr>
              <a:t>}</a:t>
            </a:r>
            <a:endParaRPr lang="en-US" sz="2400" b="1" i="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29212799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3380</TotalTime>
  <Words>3033</Words>
  <Application>Microsoft Office PowerPoint</Application>
  <PresentationFormat>On-screen Show (4:3)</PresentationFormat>
  <Paragraphs>363</Paragraphs>
  <Slides>48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Courier New</vt:lpstr>
      <vt:lpstr>Wingdings</vt:lpstr>
      <vt:lpstr>oldTheme</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lpstr>C# - Cursul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24</cp:revision>
  <dcterms:created xsi:type="dcterms:W3CDTF">2025-10-05T09:43:55Z</dcterms:created>
  <dcterms:modified xsi:type="dcterms:W3CDTF">2026-10-26T11:06:21Z</dcterms:modified>
</cp:coreProperties>
</file>